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4384000" cy="13716000"/>
  <p:notesSz cx="6858000" cy="9144000"/>
  <p:embeddedFontLst>
    <p:embeddedFont>
      <p:font typeface="Caviar Dreams"/>
      <p:regular r:id="rId21"/>
    </p:embeddedFont>
    <p:embeddedFont>
      <p:font typeface="Pretendard Regular"/>
      <p:regular r:id="rId22"/>
    </p:embeddedFont>
    <p:embeddedFont>
      <p:font typeface="NanumSquare Regular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1.fntdata" Type="http://schemas.openxmlformats.org/officeDocument/2006/relationships/font"/><Relationship Id="rId22" Target="fonts/font2.fntdata" Type="http://schemas.openxmlformats.org/officeDocument/2006/relationships/font"/><Relationship Id="rId23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github.com/sungone/GP2025/blob/main/Source/GP2025/Character/Modules/GPMyplayerNetworkSyncHandler.h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https://github.com/sungone/GP2025/blob/main/Source/GP2025/Character/GPCharacterBase.h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https://github.com/sungone/GP2025/blob/main/Source/GP2025/Network/GPObjectManager.h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https://github.com/sungone/GP2025/tree/main/Source/GP2025/Character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sungone/GP2025/blob/main/Source/GP2025/Character/Modules/GPCharacterCombatHandler.h" TargetMode="External" Type="http://schemas.openxmlformats.org/officeDocument/2006/relationships/hyperlink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sungone/GP2025/tree/main/Source/GP2025/Inventory" TargetMode="External" Type="http://schemas.openxmlformats.org/officeDocument/2006/relationships/hyperlink"/><Relationship Id="rId3" Target="https://github.com/sungone/GP2025/tree/main/Source/GP2025/Shop" TargetMode="External" Type="http://schemas.openxmlformats.org/officeDocument/2006/relationships/hyperlink"/><Relationship Id="rId4" Target="https://github.com/sungone/GP2025/tree/main/Source/GP2025/Item" TargetMode="External" Type="http://schemas.openxmlformats.org/officeDocument/2006/relationships/hyperlink"/><Relationship Id="rId5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sungone/GP2025/tree/main/Source/GP2025/UI" TargetMode="External" Type="http://schemas.openxmlformats.org/officeDocument/2006/relationships/hyperlink"/><Relationship Id="rId3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sungone/Unity_Of_Mind/blob/main/CG_FinalProject/object.h" TargetMode="External" Type="http://schemas.openxmlformats.org/officeDocument/2006/relationships/hyperlink"/><Relationship Id="rId3" Target="../media/image26.png" Type="http://schemas.openxmlformats.org/officeDocument/2006/relationships/image"/><Relationship Id="rId4" Target="https://github.com/sungone/Unity_Of_Mind/blob/main/CG_FinalProject/wall.h" TargetMode="External" Type="http://schemas.openxmlformats.org/officeDocument/2006/relationships/hyperlink"/><Relationship Id="rId5" Target="https://github.com/sungone/Unity_Of_Mind/blob/main/CG_FinalProject/player.h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sungone/Unity_Of_Mind/blob/main/CG_FinalProject/shader.cpp" TargetMode="External" Type="http://schemas.openxmlformats.org/officeDocument/2006/relationships/hyperlink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0" y="3149600"/>
            <a:ext cx="22453600" cy="4737100"/>
          </a:xfrm>
          <a:prstGeom prst="rect">
            <a:avLst/>
          </a:prstGeom>
        </p:spPr>
        <p:txBody>
          <a:bodyPr anchor="ctr" rtlCol="false" lIns="0" tIns="237061" rIns="0" bIns="237061"/>
          <a:lstStyle/>
          <a:p>
            <a:pPr algn="ctr" lvl="0">
              <a:lnSpc>
                <a:spcPct val="104580"/>
              </a:lnSpc>
            </a:pPr>
            <a:r>
              <a:rPr lang="en" sz="26666" b="true" i="false" u="none" strike="noStrike" spc="-533">
                <a:solidFill>
                  <a:srgbClr val="A3835F"/>
                </a:solidFill>
                <a:ea typeface="Pretendard Regular"/>
              </a:rPr>
              <a:t>포트폴리오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13800" y="10071100"/>
            <a:ext cx="6743700" cy="26797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30226"/>
              </a:lnSpc>
            </a:pPr>
            <a:r>
              <a:rPr lang="en" sz="5586" b="true" i="false" u="none" strike="noStrike">
                <a:solidFill>
                  <a:srgbClr val="000000"/>
                </a:solidFill>
                <a:ea typeface="Caviar Dreams"/>
              </a:rPr>
              <a:t>조성원</a:t>
            </a:r>
          </a:p>
          <a:p>
            <a:pPr algn="ctr" lvl="0">
              <a:lnSpc>
                <a:spcPct val="145416"/>
              </a:lnSpc>
            </a:pPr>
            <a:r>
              <a:rPr lang="en" sz="3852" b="false" i="false" u="none" strike="noStrike">
                <a:solidFill>
                  <a:srgbClr val="000000"/>
                </a:solidFill>
                <a:latin typeface="Caviar Dreams"/>
              </a:rPr>
              <a:t>010-9742-4028</a:t>
            </a:r>
          </a:p>
          <a:p>
            <a:pPr algn="ctr" lvl="0">
              <a:lnSpc>
                <a:spcPct val="145416"/>
              </a:lnSpc>
            </a:pPr>
            <a:r>
              <a:rPr lang="en" sz="3852" b="false" i="false" u="none" strike="noStrike">
                <a:solidFill>
                  <a:srgbClr val="000000"/>
                </a:solidFill>
                <a:latin typeface="Caviar Dreams"/>
              </a:rPr>
              <a:t>sungone000604@gmail.com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4900" y="1206500"/>
            <a:ext cx="3098800" cy="952500"/>
          </a:xfrm>
          <a:prstGeom prst="rect">
            <a:avLst/>
          </a:prstGeom>
        </p:spPr>
        <p:txBody>
          <a:bodyPr anchor="ctr" rtlCol="false" lIns="0" tIns="77214" rIns="0" bIns="77214"/>
          <a:lstStyle/>
          <a:p>
            <a:pPr algn="l" lvl="0">
              <a:lnSpc>
                <a:spcPct val="97275"/>
              </a:lnSpc>
            </a:pPr>
            <a:r>
              <a:rPr lang="en" sz="5333" b="true" i="false" u="none" strike="noStrike" spc="53">
                <a:solidFill>
                  <a:srgbClr val="595959"/>
                </a:solidFill>
                <a:ea typeface="Caviar Dreams"/>
              </a:rPr>
              <a:t>조성원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56100" y="1244600"/>
            <a:ext cx="4406900" cy="711200"/>
          </a:xfrm>
          <a:prstGeom prst="rect">
            <a:avLst/>
          </a:prstGeom>
        </p:spPr>
        <p:txBody>
          <a:bodyPr anchor="ctr" rtlCol="false" lIns="0" tIns="57911" rIns="0" bIns="57911"/>
          <a:lstStyle/>
          <a:p>
            <a:pPr algn="l" lvl="0">
              <a:lnSpc>
                <a:spcPct val="97275"/>
              </a:lnSpc>
            </a:pPr>
            <a:r>
              <a:rPr lang="en" sz="3999" b="false" i="false" u="none" strike="noStrike" spc="40">
                <a:solidFill>
                  <a:srgbClr val="595959"/>
                </a:solidFill>
                <a:latin typeface="Caviar Dreams"/>
              </a:rPr>
              <a:t>Programmer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 rot="0">
            <a:off x="11201400" y="6235700"/>
            <a:ext cx="11734800" cy="4572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661400" y="6235700"/>
            <a:ext cx="2451100" cy="444500"/>
          </a:xfrm>
          <a:prstGeom prst="rect">
            <a:avLst/>
          </a:prstGeom>
        </p:spPr>
        <p:txBody>
          <a:bodyPr anchor="ctr" rtlCol="false" lIns="0" tIns="36311" rIns="0" bIns="36311"/>
          <a:lstStyle/>
          <a:p>
            <a:pPr algn="l" lvl="0">
              <a:lnSpc>
                <a:spcPct val="97275"/>
              </a:lnSpc>
            </a:pPr>
            <a:r>
              <a:rPr lang="en" sz="2508" b="true" i="false" u="none" strike="noStrike" spc="25">
                <a:solidFill>
                  <a:srgbClr val="595959"/>
                </a:solidFill>
                <a:latin typeface="Caviar Dreams"/>
              </a:rPr>
              <a:t>Unreal Engine 5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201400" y="6235700"/>
            <a:ext cx="9715500" cy="45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 rot="0">
            <a:off x="11201400" y="7251700"/>
            <a:ext cx="11734800" cy="457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636000" y="7251700"/>
            <a:ext cx="2298700" cy="444500"/>
          </a:xfrm>
          <a:prstGeom prst="rect">
            <a:avLst/>
          </a:prstGeom>
        </p:spPr>
        <p:txBody>
          <a:bodyPr anchor="ctr" rtlCol="false" lIns="0" tIns="36311" rIns="0" bIns="36311"/>
          <a:lstStyle/>
          <a:p>
            <a:pPr algn="ctr" lvl="0">
              <a:lnSpc>
                <a:spcPct val="97275"/>
              </a:lnSpc>
            </a:pPr>
            <a:r>
              <a:rPr lang="en" sz="2508" b="true" i="false" u="none" strike="noStrike" spc="25">
                <a:solidFill>
                  <a:srgbClr val="595959"/>
                </a:solidFill>
                <a:latin typeface="Caviar Dreams"/>
              </a:rPr>
              <a:t>C++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01400" y="7251700"/>
            <a:ext cx="103124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alphaModFix amt="21000"/>
          </a:blip>
          <a:stretch>
            <a:fillRect/>
          </a:stretch>
        </p:blipFill>
        <p:spPr>
          <a:xfrm rot="0">
            <a:off x="11201400" y="8293100"/>
            <a:ext cx="11734800" cy="4572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636000" y="8293100"/>
            <a:ext cx="2451100" cy="444500"/>
          </a:xfrm>
          <a:prstGeom prst="rect">
            <a:avLst/>
          </a:prstGeom>
        </p:spPr>
        <p:txBody>
          <a:bodyPr anchor="ctr" rtlCol="false" lIns="0" tIns="36311" rIns="0" bIns="36311"/>
          <a:lstStyle/>
          <a:p>
            <a:pPr algn="ctr" lvl="0">
              <a:lnSpc>
                <a:spcPct val="97275"/>
              </a:lnSpc>
            </a:pPr>
            <a:r>
              <a:rPr lang="en" sz="2508" b="true" i="false" u="none" strike="noStrike" spc="25">
                <a:solidFill>
                  <a:srgbClr val="595959"/>
                </a:solidFill>
                <a:latin typeface="Caviar Dreams"/>
              </a:rPr>
              <a:t>OpenGL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201400" y="8293100"/>
            <a:ext cx="6718300" cy="457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7581900" y="5207000"/>
            <a:ext cx="3048000" cy="711200"/>
          </a:xfrm>
          <a:prstGeom prst="rect">
            <a:avLst/>
          </a:prstGeom>
        </p:spPr>
        <p:txBody>
          <a:bodyPr anchor="ctr" rtlCol="false" lIns="0" tIns="57911" rIns="0" bIns="57911"/>
          <a:lstStyle/>
          <a:p>
            <a:pPr algn="l" lvl="0">
              <a:lnSpc>
                <a:spcPct val="97275"/>
              </a:lnSpc>
            </a:pPr>
            <a:r>
              <a:rPr lang="en" sz="3999" b="true" i="true" u="none" strike="noStrike" spc="40">
                <a:solidFill>
                  <a:srgbClr val="A3835F"/>
                </a:solidFill>
                <a:latin typeface="Caviar Dreams"/>
              </a:rPr>
              <a:t>Tech Stack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alphaModFix amt="21000"/>
          </a:blip>
          <a:stretch>
            <a:fillRect/>
          </a:stretch>
        </p:blipFill>
        <p:spPr>
          <a:xfrm rot="0">
            <a:off x="11201400" y="9359900"/>
            <a:ext cx="11734800" cy="457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201400" y="9359900"/>
            <a:ext cx="9525000" cy="44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alphaModFix amt="21000"/>
          </a:blip>
          <a:stretch>
            <a:fillRect/>
          </a:stretch>
        </p:blipFill>
        <p:spPr>
          <a:xfrm rot="0">
            <a:off x="11201400" y="10414000"/>
            <a:ext cx="11734800" cy="457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201400" y="10414000"/>
            <a:ext cx="9550400" cy="457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04900" y="4445000"/>
            <a:ext cx="5384800" cy="7175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04900" y="1231900"/>
            <a:ext cx="495300" cy="101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940800" y="1473200"/>
            <a:ext cx="3708400" cy="482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0764"/>
              </a:lnSpc>
            </a:pPr>
            <a:r>
              <a:rPr lang="en" sz="2696" b="false" i="false" u="none" strike="noStrike" spc="27">
                <a:solidFill>
                  <a:srgbClr val="595959"/>
                </a:solidFill>
                <a:latin typeface="NanumSquare Regular"/>
              </a:rPr>
              <a:t>+82 010-9742-4028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27000" y="1473200"/>
            <a:ext cx="4965700" cy="4826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20764"/>
              </a:lnSpc>
            </a:pPr>
            <a:r>
              <a:rPr lang="en" sz="2696" b="false" i="false" u="none" strike="noStrike" spc="27">
                <a:solidFill>
                  <a:srgbClr val="595959"/>
                </a:solidFill>
                <a:latin typeface="NanumSquare Regular"/>
              </a:rPr>
              <a:t>sungone000604@gmail.com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23300" y="9347200"/>
            <a:ext cx="2451100" cy="444500"/>
          </a:xfrm>
          <a:prstGeom prst="rect">
            <a:avLst/>
          </a:prstGeom>
        </p:spPr>
        <p:txBody>
          <a:bodyPr anchor="ctr" rtlCol="false" lIns="0" tIns="36311" rIns="0" bIns="36311"/>
          <a:lstStyle/>
          <a:p>
            <a:pPr algn="ctr" lvl="0">
              <a:lnSpc>
                <a:spcPct val="97275"/>
              </a:lnSpc>
            </a:pPr>
            <a:r>
              <a:rPr lang="en" sz="2508" b="true" i="false" u="none" strike="noStrike" spc="25">
                <a:solidFill>
                  <a:srgbClr val="595959"/>
                </a:solidFill>
                <a:latin typeface="Caviar Dreams"/>
              </a:rPr>
              <a:t>Git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36000" y="10414000"/>
            <a:ext cx="2451100" cy="444500"/>
          </a:xfrm>
          <a:prstGeom prst="rect">
            <a:avLst/>
          </a:prstGeom>
        </p:spPr>
        <p:txBody>
          <a:bodyPr anchor="ctr" rtlCol="false" lIns="0" tIns="36311" rIns="0" bIns="36311"/>
          <a:lstStyle/>
          <a:p>
            <a:pPr algn="ctr" lvl="0">
              <a:lnSpc>
                <a:spcPct val="97275"/>
              </a:lnSpc>
            </a:pPr>
            <a:r>
              <a:rPr lang="en" sz="2508" b="true" i="false" u="none" strike="noStrike" spc="25">
                <a:solidFill>
                  <a:srgbClr val="595959"/>
                </a:solidFill>
                <a:latin typeface="Caviar Dreams"/>
              </a:rPr>
              <a:t>Visual Studio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04900" y="1206500"/>
            <a:ext cx="3759200" cy="952500"/>
          </a:xfrm>
          <a:prstGeom prst="rect">
            <a:avLst/>
          </a:prstGeom>
        </p:spPr>
        <p:txBody>
          <a:bodyPr anchor="ctr" rtlCol="false" lIns="0" tIns="77214" rIns="0" bIns="77214"/>
          <a:lstStyle/>
          <a:p>
            <a:pPr algn="l" lvl="0">
              <a:lnSpc>
                <a:spcPct val="97275"/>
              </a:lnSpc>
            </a:pPr>
            <a:r>
              <a:rPr lang="en" sz="5333" b="true" i="false" u="none" strike="noStrike" spc="53">
                <a:solidFill>
                  <a:srgbClr val="595959"/>
                </a:solidFill>
                <a:latin typeface="Caviar Dreams"/>
              </a:rPr>
              <a:t>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3500" y="4991100"/>
            <a:ext cx="4940300" cy="8001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50396"/>
              </a:lnSpc>
            </a:pPr>
            <a:r>
              <a:rPr lang="en-US" sz="4528" b="true" i="false" u="none" strike="noStrike">
                <a:solidFill>
                  <a:srgbClr val="595959"/>
                </a:solidFill>
                <a:latin typeface="Caviar Dreams"/>
              </a:rPr>
              <a:t>01. </a:t>
            </a:r>
            <a:r>
              <a:rPr lang="ko-KR" sz="4528" b="true" i="false" u="none" strike="noStrike">
                <a:solidFill>
                  <a:srgbClr val="595959"/>
                </a:solidFill>
                <a:ea typeface="Caviar Dreams"/>
              </a:rPr>
              <a:t>티유월드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85600" y="5092700"/>
            <a:ext cx="8483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51890"/>
              </a:lnSpc>
            </a:pP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4p :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게임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소개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, 5p :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구현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설명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3500" y="6438900"/>
            <a:ext cx="4991100" cy="8001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50396"/>
              </a:lnSpc>
            </a:pPr>
            <a:r>
              <a:rPr lang="en" sz="4528" b="true" i="false" u="none" strike="noStrike">
                <a:solidFill>
                  <a:srgbClr val="595959"/>
                </a:solidFill>
                <a:latin typeface="Caviar Dreams"/>
              </a:rPr>
              <a:t>02. Unity Of Mind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85600" y="6540500"/>
            <a:ext cx="8483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51890"/>
              </a:lnSpc>
            </a:pP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12p :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게임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소개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, 13p :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구현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13500" y="7924800"/>
            <a:ext cx="4889500" cy="8001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50396"/>
              </a:lnSpc>
            </a:pPr>
            <a:r>
              <a:rPr lang="en-US" sz="4528" b="true" i="false" u="none" strike="noStrike">
                <a:solidFill>
                  <a:srgbClr val="595959"/>
                </a:solidFill>
                <a:latin typeface="Caviar Dreams"/>
              </a:rPr>
              <a:t>03. </a:t>
            </a:r>
            <a:r>
              <a:rPr lang="ko-KR" sz="4528" b="true" i="false" u="none" strike="noStrike">
                <a:solidFill>
                  <a:srgbClr val="595959"/>
                </a:solidFill>
                <a:ea typeface="Caviar Dreams"/>
              </a:rPr>
              <a:t>준비중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85600" y="8026400"/>
            <a:ext cx="8483600" cy="596900"/>
          </a:xfrm>
          <a:prstGeom prst="rect">
            <a:avLst/>
          </a:prstGeom>
        </p:spPr>
        <p:txBody>
          <a:bodyPr anchor="ctr" rtlCol="false"/>
          <a:lstStyle/>
          <a:p>
            <a:pPr algn="l" lvl="0">
              <a:lnSpc>
                <a:spcPct val="151890"/>
              </a:lnSpc>
            </a:pP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제목에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대한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간략한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설명을</a:t>
            </a:r>
            <a:r>
              <a:rPr lang="en-US" sz="3382" b="false" i="false" u="none" strike="noStrike" spc="169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3382" b="false" i="false" u="none" strike="noStrike" spc="169">
                <a:solidFill>
                  <a:srgbClr val="595959"/>
                </a:solidFill>
                <a:ea typeface="Caviar Dreams"/>
              </a:rPr>
              <a:t>쓰세요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231900"/>
            <a:ext cx="495300" cy="1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6543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소개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5435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en" sz="4084" b="true" i="false" u="none" strike="noStrike" spc="41">
                <a:solidFill>
                  <a:srgbClr val="595959"/>
                </a:solidFill>
                <a:latin typeface="Caviar Dreams"/>
              </a:rPr>
              <a:t>2024.09 ~ 2025.07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81100" y="5524500"/>
            <a:ext cx="495300" cy="101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685500" y="12750800"/>
            <a:ext cx="4953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" y="4546600"/>
            <a:ext cx="6794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4606" b="false" i="false" u="none" strike="noStrike">
                <a:solidFill>
                  <a:srgbClr val="000000"/>
                </a:solidFill>
                <a:ea typeface="Caviar Dreams"/>
              </a:rPr>
              <a:t>한국공학대학교</a:t>
            </a:r>
            <a:r>
              <a:rPr lang="en-US" sz="4606" b="false" i="false" u="none" strike="noStrike">
                <a:solidFill>
                  <a:srgbClr val="000000"/>
                </a:solidFill>
                <a:latin typeface="Caviar Dreams"/>
              </a:rPr>
              <a:t> </a:t>
            </a:r>
            <a:r>
              <a:rPr lang="ko-KR" sz="4606" b="false" i="false" u="none" strike="noStrike">
                <a:solidFill>
                  <a:srgbClr val="000000"/>
                </a:solidFill>
                <a:ea typeface="Caviar Dreams"/>
              </a:rPr>
              <a:t>졸업작품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" y="6159500"/>
            <a:ext cx="7683500" cy="7213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>- 3D MMORPG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Unreal Engine 5.4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개발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3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명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1 ,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서버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1 ,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모델러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1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파트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담당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학생의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실수로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소환된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몬스터들을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물리치고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학교의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평화를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되찾는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액션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RPG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깃허브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>https://github.com/sungone/GP2025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3379" b="false" i="false" u="none" strike="noStrike">
                <a:solidFill>
                  <a:srgbClr val="000000"/>
                </a:solidFill>
                <a:ea typeface="Pretendard Regular"/>
              </a:rPr>
              <a:t>유튜브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>https://www.youtube.com/watch?v=NkqPZXgjn8c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2374900"/>
            <a:ext cx="6718300" cy="3784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370300" y="2374900"/>
            <a:ext cx="6692900" cy="378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70300" y="6858000"/>
            <a:ext cx="6692900" cy="3759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53500" y="6858000"/>
            <a:ext cx="6718300" cy="3797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99568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플레이어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이동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동기화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5500" y="12750800"/>
            <a:ext cx="4826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65700"/>
            <a:ext cx="9398000" cy="7810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움직일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존재하는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모든</a:t>
            </a:r>
            <a:b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</a:b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클라이언트들과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동기화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하기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서버로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패킷을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 
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전달하는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379" b="true" i="false" u="none" strike="noStrike">
                <a:solidFill>
                  <a:srgbClr val="000000"/>
                </a:solidFill>
                <a:latin typeface="Pretendard Regular"/>
              </a:rPr>
              <a:t>GPMyplayerNetworkSyncHandler</a:t>
            </a:r>
            <a:br>
              <a:rPr lang="en" sz="3379" b="true" i="false" u="none" strike="noStrike">
                <a:solidFill>
                  <a:srgbClr val="000000"/>
                </a:solidFill>
                <a:latin typeface="Pretendard Regular"/>
              </a:rPr>
            </a:b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만들었습니다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 
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서버의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Overhead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고려하여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 
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업데이트가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꼭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필요한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상황해서만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패킷을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보내</a:t>
            </a:r>
          </a:p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1. Tick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플레이어의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새로운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갱신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2.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플레이어가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Idle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상태인지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확인해서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업데이트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3.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점프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제자리에서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회전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상황일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패킷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전송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
4.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일정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주기마다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Idle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아닐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패킷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전송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163300" y="2374900"/>
            <a:ext cx="12103100" cy="8712200"/>
          </a:xfrm>
          <a:prstGeom prst="rect">
            <a:avLst/>
          </a:prstGeom>
        </p:spPr>
      </p:pic>
      <p:sp>
        <p:nvSpPr>
          <p:cNvPr name="TextBox 7" id="7">
            <a:hlinkClick r:id="rId3" tooltip="https://github.com/sungone/GP2025/blob/main/Source/GP2025/Character/Modules/GPMyplayerNetworkSyncHandler.h"/>
          </p:cNvPr>
          <p:cNvSpPr txBox="true"/>
          <p:nvPr/>
        </p:nvSpPr>
        <p:spPr>
          <a:xfrm rot="0">
            <a:off x="10439400" y="12814300"/>
            <a:ext cx="132207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:https://github.com/sungone/GP2025/blob/main/Source/GP2025/Character/Modules/GPMyplayerNetworkSyncHandler.h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99568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플레이어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이동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동기화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5500" y="12750800"/>
            <a:ext cx="4953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65700"/>
            <a:ext cx="9804400" cy="6616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서버에서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받은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다른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클라이언트들의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정보는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0.5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초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정도의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주기로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업데이트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되는데</a:t>
            </a:r>
          </a:p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내가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보는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월드에서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자연스럽게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업데이트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하기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Location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값을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보간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처리하였습니다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1 .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최근에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받은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패킷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TargetLocation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지금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CurrentLocation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설정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2 .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현재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목표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위치까지의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거리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3 .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회전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보간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4 .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회전을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5 .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반영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836400" y="393700"/>
            <a:ext cx="8559800" cy="6464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836400" y="6858000"/>
            <a:ext cx="8559800" cy="6261100"/>
          </a:xfrm>
          <a:prstGeom prst="rect">
            <a:avLst/>
          </a:prstGeom>
        </p:spPr>
      </p:pic>
      <p:sp>
        <p:nvSpPr>
          <p:cNvPr name="TextBox 8" id="8">
            <a:hlinkClick r:id="rId4" tooltip="https://github.com/sungone/GP2025/blob/main/Source/GP2025/Character/GPCharacterBase.h"/>
          </p:cNvPr>
          <p:cNvSpPr txBox="true"/>
          <p:nvPr/>
        </p:nvSpPr>
        <p:spPr>
          <a:xfrm rot="0">
            <a:off x="1181100" y="12001500"/>
            <a:ext cx="9779000" cy="990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https://github.com/sungone/GP2025/blob/main/Source/GP2025/Character/GPCharacterBase.h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99568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서버에서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수신받은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패킷을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게임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월드에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반영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5500" y="12750800"/>
            <a:ext cx="4572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65700"/>
            <a:ext cx="8864600" cy="58928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서버에서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수신한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패킷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데이터를</a:t>
            </a:r>
          </a:p>
          <a:p>
            <a:pPr algn="l" lvl="0">
              <a:lnSpc>
                <a:spcPct val="116199"/>
              </a:lnSpc>
            </a:pPr>
            <a:r>
              <a:rPr lang="en" sz="3316" b="true" i="false" u="none" strike="noStrike">
                <a:solidFill>
                  <a:srgbClr val="000000"/>
                </a:solidFill>
                <a:latin typeface="Pretendard Regular"/>
              </a:rPr>
              <a:t>UGPObjectManager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클래스를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오브젝트에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반영하였습니다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16199"/>
              </a:lnSpc>
            </a:pPr>
            <a:r>
              <a:rPr lang="en" sz="331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월드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내의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플레이어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몬스터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아이템은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UGPObjectManager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고유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ID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객체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포인터로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매핑되어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관리되며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서버에서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전달된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변화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이벤트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체력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감소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아이템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스폰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아이템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구매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친구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타겟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오브젝트에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동기화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하기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상황에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맞는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함수를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만들어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16" b="false" i="false" u="none" strike="noStrike">
                <a:solidFill>
                  <a:srgbClr val="000000"/>
                </a:solidFill>
                <a:ea typeface="Pretendard Regular"/>
              </a:rPr>
              <a:t>처리하였습니다</a:t>
            </a:r>
            <a:r>
              <a:rPr lang="en-US" sz="331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493500" y="1295400"/>
            <a:ext cx="8623300" cy="6121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93500" y="7416800"/>
            <a:ext cx="8623300" cy="5803900"/>
          </a:xfrm>
          <a:prstGeom prst="rect">
            <a:avLst/>
          </a:prstGeom>
        </p:spPr>
      </p:pic>
      <p:sp>
        <p:nvSpPr>
          <p:cNvPr name="TextBox 8" id="8">
            <a:hlinkClick r:id="rId4" tooltip="https://github.com/sungone/GP2025/blob/main/Source/GP2025/Network/GPObjectManager.h"/>
          </p:cNvPr>
          <p:cNvSpPr txBox="true"/>
          <p:nvPr/>
        </p:nvSpPr>
        <p:spPr>
          <a:xfrm rot="0">
            <a:off x="736600" y="11747500"/>
            <a:ext cx="9779000" cy="990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https://github.com/sungone/GP2025/blob/main/Source/GP2025/Network/GPObjectManager.h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11658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캐릭터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클래스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구조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설계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및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캐릭터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기능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모듈화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5500" y="12750800"/>
            <a:ext cx="4826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8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414500" y="1854200"/>
            <a:ext cx="8305800" cy="10020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219200" y="4991100"/>
            <a:ext cx="10121900" cy="6616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MMORPG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공통적으로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가지는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AGPCharacterBase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정의하고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상속받아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플레이어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몬스터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NPC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세분화하였습니다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플레이어의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처리를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AGPCharacterMyplayer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클래스를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별도로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설계하였습니다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클래스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내부에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직접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구현하지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않고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전투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스탯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UI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단위를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모듈화하여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클래스가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필요한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조합하도록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설계하였습니다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유지보수성과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확장성을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높이고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특성을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반영할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7" id="7">
            <a:hlinkClick r:id="rId3" tooltip="https://github.com/sungone/GP2025/tree/main/Source/GP2025/Character"/>
          </p:cNvPr>
          <p:cNvSpPr txBox="true"/>
          <p:nvPr/>
        </p:nvSpPr>
        <p:spPr>
          <a:xfrm rot="0">
            <a:off x="1219200" y="120904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https://github.com/sungone/GP2025/tree/main/Source/GP2025/Character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11658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캐릭터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전투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시스템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구현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85500" y="12750800"/>
            <a:ext cx="4953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91100"/>
            <a:ext cx="10121900" cy="600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379" b="true" i="false" u="none" strike="noStrike">
                <a:solidFill>
                  <a:srgbClr val="000000"/>
                </a:solidFill>
                <a:latin typeface="Pretendard Regular"/>
              </a:rPr>
              <a:t>UGPCharacterCombatHandler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MMORPG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전투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시스템을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모듈화하여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피격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사망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처리와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관련된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애니메이션을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몽타주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단위로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관리하며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속도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증가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돌진형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스킬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멀티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Hit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스킬의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특성에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따른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전투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타이머와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플래그로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제어해서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또한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플레이어의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공격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정확히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추적하고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판단해서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서버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동기화가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원활히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이루어지도록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설계하였습니다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>
            <a:hlinkClick r:id="rId2" tooltip="https://github.com/sungone/GP2025/blob/main/Source/GP2025/Character/Modules/GPCharacterCombatHandler.h"/>
          </p:cNvPr>
          <p:cNvSpPr txBox="true"/>
          <p:nvPr/>
        </p:nvSpPr>
        <p:spPr>
          <a:xfrm rot="0">
            <a:off x="1219200" y="12090400"/>
            <a:ext cx="9779000" cy="990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https://github.com/sungone/GP2025/blob/main/Source/GP2025/Character/Modules/GPCharacterCombatHandler.h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671300" y="6972300"/>
            <a:ext cx="10350500" cy="598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71300" y="711200"/>
            <a:ext cx="1035050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11658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인벤토리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및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상점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시스템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구현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09300" y="12750800"/>
            <a:ext cx="7112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91100"/>
            <a:ext cx="10121900" cy="4813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아이템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데이터는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GPItemTable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활용해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관리하여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손쉽게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아이템의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확장과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수정을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 
ItemSlot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클래스를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인벤토리와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양쪽에서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공통적으로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사용하도록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구조화하여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코드의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일관성과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재사용성을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높였습니다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 
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또한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인벤토리와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상점에서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공통적으로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활용할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있는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기능들은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별도로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모듈화하여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중복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코드를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최소화하고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유지보수성과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확장성을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시스템을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구축했습니다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>
            <a:hlinkClick r:id="rId2" tooltip="https://github.com/sungone/GP2025/tree/main/Source/GP2025/Inventory"/>
          </p:cNvPr>
          <p:cNvSpPr txBox="true"/>
          <p:nvPr/>
        </p:nvSpPr>
        <p:spPr>
          <a:xfrm rot="0">
            <a:off x="1219200" y="120904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인벤토리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https://github.com/sungone/GP2025/tree/main/Source/GP2025/Inventory</a:t>
            </a:r>
          </a:p>
        </p:txBody>
      </p:sp>
      <p:sp>
        <p:nvSpPr>
          <p:cNvPr name="TextBox 7" id="7">
            <a:hlinkClick r:id="rId3" tooltip="https://github.com/sungone/GP2025/tree/main/Source/GP2025/Shop"/>
          </p:cNvPr>
          <p:cNvSpPr txBox="true"/>
          <p:nvPr/>
        </p:nvSpPr>
        <p:spPr>
          <a:xfrm rot="0">
            <a:off x="1219200" y="112522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상점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https://github.com/sungone/GP2025/tree/main/Source/GP2025/Shop</a:t>
            </a:r>
          </a:p>
        </p:txBody>
      </p:sp>
      <p:sp>
        <p:nvSpPr>
          <p:cNvPr name="TextBox 8" id="8">
            <a:hlinkClick r:id="rId4" tooltip="https://github.com/sungone/GP2025/tree/main/Source/GP2025/Item"/>
          </p:cNvPr>
          <p:cNvSpPr txBox="true"/>
          <p:nvPr/>
        </p:nvSpPr>
        <p:spPr>
          <a:xfrm rot="0">
            <a:off x="1219200" y="104140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아이템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https://github.com/sungone/GP2025/tree/main/Source/GP2025/Item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85600" y="3136900"/>
            <a:ext cx="10439400" cy="853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11658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ea typeface="Caviar Dreams"/>
              </a:rPr>
              <a:t>티유월드</a:t>
            </a:r>
          </a:p>
          <a:p>
            <a:pPr algn="l" lvl="0">
              <a:lnSpc>
                <a:spcPct val="125412"/>
              </a:lnSpc>
            </a:pP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UI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시스템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구현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34700" y="12750800"/>
            <a:ext cx="6350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91100"/>
            <a:ext cx="9245600" cy="5410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인게임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 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계정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접속을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처리하고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선택과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진입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과정을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거쳐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인게임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에서는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채널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캐릭터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채팅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퀘스트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NPC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상호작용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인벤토리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상점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친구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목록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모듈화된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위젯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형태로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 </a:t>
            </a:r>
          </a:p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독립적으로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동작하면서도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유기적으로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연결되도록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구조화하여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확장성과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유지보수성을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UI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시스템을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구축하였습니다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>
            <a:hlinkClick r:id="rId2" tooltip="https://github.com/sungone/GP2025/tree/main/Source/GP2025/UI"/>
          </p:cNvPr>
          <p:cNvSpPr txBox="true"/>
          <p:nvPr/>
        </p:nvSpPr>
        <p:spPr>
          <a:xfrm rot="0">
            <a:off x="1219200" y="120904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https://github.com/sungone/GP2025/tree/main/Source/GP2025/UI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675100" y="2044700"/>
            <a:ext cx="3670300" cy="1003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6543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소개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71374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latin typeface="Caviar Dreams"/>
              </a:rPr>
              <a:t>Unity Of Mind</a:t>
            </a:r>
          </a:p>
          <a:p>
            <a:pPr algn="l" lvl="0">
              <a:lnSpc>
                <a:spcPct val="125412"/>
              </a:lnSpc>
            </a:pPr>
            <a:r>
              <a:rPr lang="en" sz="4084" b="true" i="false" u="none" strike="noStrike" spc="41">
                <a:solidFill>
                  <a:srgbClr val="595959"/>
                </a:solidFill>
                <a:latin typeface="Caviar Dreams"/>
              </a:rPr>
              <a:t>2023.09 ~ 2023.12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81100" y="5524500"/>
            <a:ext cx="495300" cy="101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571200" y="12776200"/>
            <a:ext cx="7112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" y="4546600"/>
            <a:ext cx="6794500" cy="825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4606" b="false" i="false" u="none" strike="noStrike">
                <a:solidFill>
                  <a:srgbClr val="000000"/>
                </a:solidFill>
                <a:ea typeface="Caviar Dreams"/>
              </a:rPr>
              <a:t>컴퓨터그래픽스</a:t>
            </a:r>
            <a:r>
              <a:rPr lang="en-US" sz="4606" b="false" i="false" u="none" strike="noStrike">
                <a:solidFill>
                  <a:srgbClr val="000000"/>
                </a:solidFill>
                <a:latin typeface="Caviar Dreams"/>
              </a:rPr>
              <a:t> </a:t>
            </a:r>
            <a:r>
              <a:rPr lang="ko-KR" sz="4606" b="false" i="false" u="none" strike="noStrike">
                <a:solidFill>
                  <a:srgbClr val="000000"/>
                </a:solidFill>
                <a:ea typeface="Caviar Dreams"/>
              </a:rPr>
              <a:t>텀프로젝트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" y="6159500"/>
            <a:ext cx="8877300" cy="600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벽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피하기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OpenGL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개발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2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명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클라이언트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2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오브젝트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셰이더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로직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담당</a:t>
            </a:r>
          </a:p>
          <a:p>
            <a:pPr algn="l" lvl="0">
              <a:lnSpc>
                <a:spcPct val="116199"/>
              </a:lnSpc>
            </a:pP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다가오는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벽을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피해서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끝까지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생존하는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게임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깃허브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>https://github.com/sungone/Unity_Of_Mind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3379" b="false" i="false" u="none" strike="noStrike">
                <a:solidFill>
                  <a:srgbClr val="000000"/>
                </a:solidFill>
                <a:ea typeface="Pretendard Regular"/>
              </a:rPr>
              <a:t>유튜브</a:t>
            </a:r>
          </a:p>
          <a:p>
            <a:pPr algn="l" lvl="0">
              <a:lnSpc>
                <a:spcPct val="116199"/>
              </a:lnSpc>
            </a:pPr>
            <a:r>
              <a:rPr lang="en" sz="3379" b="false" i="false" u="none" strike="noStrike">
                <a:solidFill>
                  <a:srgbClr val="000000"/>
                </a:solidFill>
                <a:latin typeface="Pretendard Regular"/>
              </a:rPr>
              <a:t>https://www.youtube.com/watch?v=9u4resCQxrY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560300" y="2374900"/>
            <a:ext cx="9029700" cy="908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11658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latin typeface="Caviar Dreams"/>
              </a:rPr>
              <a:t>Unity Of Mind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게임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오브젝트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설계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34700" y="12750800"/>
            <a:ext cx="7239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91100"/>
            <a:ext cx="9245600" cy="3009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게임의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오브젝트들을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Object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클래스에서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상속받아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Cube, Wall, Player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등으로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16199"/>
              </a:lnSpc>
            </a:pPr>
            <a:br>
              <a:rPr/>
            </a:b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공통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속성과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기능은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Object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관리하고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파생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클래스는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개별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동작을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오버라이드하도록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설계하였습니다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>
            <a:hlinkClick r:id="rId2" tooltip="https://github.com/sungone/Unity_Of_Mind/blob/main/CG_FinalProject/object.h"/>
          </p:cNvPr>
          <p:cNvSpPr txBox="true"/>
          <p:nvPr/>
        </p:nvSpPr>
        <p:spPr>
          <a:xfrm rot="0">
            <a:off x="1219200" y="108077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오브젝트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https://github.com/sungone/Unity_Of_Mind/blob/main/CG_FinalProject/object.h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92000" y="3581400"/>
            <a:ext cx="10172700" cy="6819900"/>
          </a:xfrm>
          <a:prstGeom prst="rect">
            <a:avLst/>
          </a:prstGeom>
        </p:spPr>
      </p:pic>
      <p:sp>
        <p:nvSpPr>
          <p:cNvPr name="TextBox 8" id="8">
            <a:hlinkClick r:id="rId4" tooltip="https://github.com/sungone/Unity_Of_Mind/blob/main/CG_FinalProject/wall.h"/>
          </p:cNvPr>
          <p:cNvSpPr txBox="true"/>
          <p:nvPr/>
        </p:nvSpPr>
        <p:spPr>
          <a:xfrm rot="0">
            <a:off x="1219200" y="117475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Cube , Wall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https://github.com/sungone/Unity_Of_Mind/blob/main/CG_FinalProject/wall.h</a:t>
            </a:r>
          </a:p>
        </p:txBody>
      </p:sp>
      <p:sp>
        <p:nvSpPr>
          <p:cNvPr name="TextBox 9" id="9">
            <a:hlinkClick r:id="rId5" tooltip="https://github.com/sungone/Unity_Of_Mind/blob/main/CG_FinalProject/player.h"/>
          </p:cNvPr>
          <p:cNvSpPr txBox="true"/>
          <p:nvPr/>
        </p:nvSpPr>
        <p:spPr>
          <a:xfrm rot="0">
            <a:off x="1181100" y="126746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Player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https://github.com/sungone/Unity_Of_Mind/blob/main/CG_FinalProject/player.h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295400"/>
            <a:ext cx="2895600" cy="558800"/>
          </a:xfrm>
          <a:prstGeom prst="rect">
            <a:avLst/>
          </a:prstGeom>
        </p:spPr>
        <p:txBody>
          <a:bodyPr anchor="ctr" rtlCol="false" lIns="0" tIns="45038" rIns="0" bIns="45038"/>
          <a:lstStyle/>
          <a:p>
            <a:pPr algn="l" lvl="0">
              <a:lnSpc>
                <a:spcPct val="97275"/>
              </a:lnSpc>
            </a:pPr>
            <a:r>
              <a:rPr lang="en-US" sz="3110" b="true" i="false" u="none" strike="noStrike" spc="31">
                <a:solidFill>
                  <a:srgbClr val="595959"/>
                </a:solidFill>
                <a:latin typeface="Caviar Dreams"/>
              </a:rPr>
              <a:t>Project </a:t>
            </a:r>
            <a:r>
              <a:rPr lang="ko-KR" sz="3110" b="true" i="false" u="none" strike="noStrike" spc="31">
                <a:solidFill>
                  <a:srgbClr val="595959"/>
                </a:solidFill>
                <a:ea typeface="Caviar Dreams"/>
              </a:rPr>
              <a:t>설명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1100" y="2374900"/>
            <a:ext cx="11658600" cy="2171700"/>
          </a:xfrm>
          <a:prstGeom prst="rect">
            <a:avLst/>
          </a:prstGeom>
        </p:spPr>
        <p:txBody>
          <a:bodyPr anchor="ctr" rtlCol="false" lIns="0" tIns="33194" rIns="0" bIns="0"/>
          <a:lstStyle/>
          <a:p>
            <a:pPr algn="l" lvl="0">
              <a:lnSpc>
                <a:spcPct val="110888"/>
              </a:lnSpc>
            </a:pPr>
            <a:r>
              <a:rPr lang="en" sz="8167" b="true" i="false" u="none" strike="noStrike" spc="82">
                <a:solidFill>
                  <a:srgbClr val="595959"/>
                </a:solidFill>
                <a:latin typeface="Caviar Dreams"/>
              </a:rPr>
              <a:t>Unity Of Mind</a:t>
            </a:r>
          </a:p>
          <a:p>
            <a:pPr algn="l" lvl="0">
              <a:lnSpc>
                <a:spcPct val="125412"/>
              </a:lnSpc>
            </a:pP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쉐이더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관리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모듈</a:t>
            </a:r>
            <a:r>
              <a:rPr lang="en-US" sz="4084" b="false" i="false" u="none" strike="noStrike" spc="41">
                <a:solidFill>
                  <a:srgbClr val="595959"/>
                </a:solidFill>
                <a:latin typeface="Caviar Dreams"/>
              </a:rPr>
              <a:t> </a:t>
            </a:r>
            <a:r>
              <a:rPr lang="ko-KR" sz="4084" b="false" i="false" u="none" strike="noStrike" spc="41">
                <a:solidFill>
                  <a:srgbClr val="595959"/>
                </a:solidFill>
                <a:ea typeface="Caviar Dreams"/>
              </a:rPr>
              <a:t>설계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634700" y="12750800"/>
            <a:ext cx="723900" cy="749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207" b="false" i="false" u="none" strike="noStrike">
                <a:solidFill>
                  <a:srgbClr val="000000"/>
                </a:solidFill>
                <a:latin typeface="Pretendard Regular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" y="4991100"/>
            <a:ext cx="9245600" cy="2400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버텍스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프래그먼트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셰이더를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작성하여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오브젝트의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색상과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텍스처를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처리할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했습니다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이를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Cube, Wall, Player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오브젝트를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렌더링하는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셰이더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시스템을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379" b="false" i="false" u="none" strike="noStrike">
                <a:solidFill>
                  <a:srgbClr val="000000"/>
                </a:solidFill>
                <a:ea typeface="Pretendard Regular"/>
              </a:rPr>
              <a:t>구축하였습니다</a:t>
            </a:r>
            <a:r>
              <a:rPr lang="en-US" sz="3379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>
            <a:hlinkClick r:id="rId2" tooltip="https://github.com/sungone/Unity_Of_Mind/blob/main/CG_FinalProject/shader.cpp"/>
          </p:cNvPr>
          <p:cNvSpPr txBox="true"/>
          <p:nvPr/>
        </p:nvSpPr>
        <p:spPr>
          <a:xfrm rot="0">
            <a:off x="1219200" y="11506200"/>
            <a:ext cx="9779000" cy="660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쉐이더</a:t>
            </a:r>
            <a:r>
              <a:rPr lang="en-US" sz="1866" b="false" i="false" u="sng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sng" strike="noStrike">
                <a:solidFill>
                  <a:srgbClr val="000000"/>
                </a:solidFill>
                <a:ea typeface="Pretendard Regular"/>
              </a:rPr>
              <a:t>코드</a:t>
            </a:r>
          </a:p>
          <a:p>
            <a:pPr algn="l" lvl="0">
              <a:lnSpc>
                <a:spcPct val="116199"/>
              </a:lnSpc>
            </a:pPr>
            <a:r>
              <a:rPr lang="en" sz="1866" b="false" i="false" u="sng" strike="noStrike">
                <a:solidFill>
                  <a:srgbClr val="000000"/>
                </a:solidFill>
                <a:latin typeface="Pretendard Regular"/>
              </a:rPr>
              <a:t>https://github.com/sungone/Unity_Of_Mind/blob/main/CG_FinalProject/shader.cpp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328400" y="1028700"/>
            <a:ext cx="7594600" cy="6045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947900" y="6477000"/>
            <a:ext cx="8483600" cy="6642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7900" y="3149600"/>
            <a:ext cx="22453600" cy="4737100"/>
          </a:xfrm>
          <a:prstGeom prst="rect">
            <a:avLst/>
          </a:prstGeom>
        </p:spPr>
        <p:txBody>
          <a:bodyPr anchor="ctr" rtlCol="false" lIns="0" tIns="237061" rIns="0" bIns="237061"/>
          <a:lstStyle/>
          <a:p>
            <a:pPr algn="ctr" lvl="0">
              <a:lnSpc>
                <a:spcPct val="104580"/>
              </a:lnSpc>
            </a:pPr>
            <a:r>
              <a:rPr lang="en" sz="26666" b="true" i="false" u="none" strike="noStrike" spc="-533">
                <a:solidFill>
                  <a:srgbClr val="A3835F"/>
                </a:solidFill>
                <a:ea typeface="Pretendard Regular"/>
              </a:rPr>
              <a:t>감사합니다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13800" y="10071100"/>
            <a:ext cx="6743700" cy="2679700"/>
          </a:xfrm>
          <a:prstGeom prst="rect">
            <a:avLst/>
          </a:prstGeom>
        </p:spPr>
        <p:txBody>
          <a:bodyPr anchor="ctr" rtlCol="false"/>
          <a:lstStyle/>
          <a:p>
            <a:pPr algn="ctr" lvl="0">
              <a:lnSpc>
                <a:spcPct val="130226"/>
              </a:lnSpc>
            </a:pPr>
            <a:r>
              <a:rPr lang="en" sz="5586" b="true" i="false" u="none" strike="noStrike">
                <a:solidFill>
                  <a:srgbClr val="000000"/>
                </a:solidFill>
                <a:ea typeface="Caviar Dreams"/>
              </a:rPr>
              <a:t>조성원</a:t>
            </a:r>
          </a:p>
          <a:p>
            <a:pPr algn="ctr" lvl="0">
              <a:lnSpc>
                <a:spcPct val="145416"/>
              </a:lnSpc>
            </a:pPr>
            <a:r>
              <a:rPr lang="en" sz="3852" b="false" i="false" u="none" strike="noStrike">
                <a:solidFill>
                  <a:srgbClr val="000000"/>
                </a:solidFill>
                <a:latin typeface="Caviar Dreams"/>
              </a:rPr>
              <a:t>010-9742-4028</a:t>
            </a:r>
          </a:p>
          <a:p>
            <a:pPr algn="ctr" lvl="0">
              <a:lnSpc>
                <a:spcPct val="145416"/>
              </a:lnSpc>
            </a:pPr>
            <a:r>
              <a:rPr lang="en" sz="3852" b="false" i="false" u="none" strike="noStrike">
                <a:solidFill>
                  <a:srgbClr val="000000"/>
                </a:solidFill>
                <a:latin typeface="Caviar Dreams"/>
              </a:rPr>
              <a:t>sungone000604@gmail.com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