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8" r:id="rId3"/>
    <p:sldId id="257" r:id="rId4"/>
    <p:sldId id="263" r:id="rId5"/>
    <p:sldId id="265" r:id="rId6"/>
    <p:sldId id="268" r:id="rId7"/>
    <p:sldId id="269" r:id="rId8"/>
    <p:sldId id="277" r:id="rId9"/>
    <p:sldId id="270" r:id="rId10"/>
    <p:sldId id="271" r:id="rId11"/>
    <p:sldId id="272" r:id="rId12"/>
    <p:sldId id="273" r:id="rId13"/>
    <p:sldId id="266" r:id="rId14"/>
    <p:sldId id="274" r:id="rId15"/>
    <p:sldId id="276" r:id="rId16"/>
    <p:sldId id="262" r:id="rId1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4425" autoAdjust="0"/>
  </p:normalViewPr>
  <p:slideViewPr>
    <p:cSldViewPr>
      <p:cViewPr varScale="1">
        <p:scale>
          <a:sx n="100" d="100"/>
          <a:sy n="100" d="100"/>
        </p:scale>
        <p:origin x="-1092" y="-90"/>
      </p:cViewPr>
      <p:guideLst>
        <p:guide orient="horz" pos="3239"/>
        <p:guide pos="57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presProps" Target="presProps.xml"  /><Relationship Id="rId19" Type="http://schemas.openxmlformats.org/officeDocument/2006/relationships/viewProps" Target="viewProps.xml"  /><Relationship Id="rId2" Type="http://schemas.openxmlformats.org/officeDocument/2006/relationships/slide" Target="slides/slide1.xml"  /><Relationship Id="rId20" Type="http://schemas.openxmlformats.org/officeDocument/2006/relationships/theme" Target="theme/theme1.xml"  /><Relationship Id="rId21" Type="http://schemas.openxmlformats.org/officeDocument/2006/relationships/tableStyles" Target="tableStyles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hyperlink" Target="https://github.com/sungone" TargetMode="External"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2.png"  /><Relationship Id="rId11" Type="http://schemas.openxmlformats.org/officeDocument/2006/relationships/image" Target="../media/image13.png"  /><Relationship Id="rId12" Type="http://schemas.openxmlformats.org/officeDocument/2006/relationships/image" Target="../media/image14.png"  /><Relationship Id="rId13" Type="http://schemas.openxmlformats.org/officeDocument/2006/relationships/image" Target="../media/image15.png"  /><Relationship Id="rId14" Type="http://schemas.openxmlformats.org/officeDocument/2006/relationships/image" Target="../media/image14.png"  /><Relationship Id="rId15" Type="http://schemas.openxmlformats.org/officeDocument/2006/relationships/image" Target="../media/image16.png"  /><Relationship Id="rId16" Type="http://schemas.openxmlformats.org/officeDocument/2006/relationships/image" Target="../media/image16.png"  /><Relationship Id="rId17" Type="http://schemas.openxmlformats.org/officeDocument/2006/relationships/image" Target="../media/image16.png"  /><Relationship Id="rId18" Type="http://schemas.openxmlformats.org/officeDocument/2006/relationships/image" Target="../media/image16.png"  /><Relationship Id="rId19" Type="http://schemas.openxmlformats.org/officeDocument/2006/relationships/image" Target="../media/image14.png"  /><Relationship Id="rId2" Type="http://schemas.openxmlformats.org/officeDocument/2006/relationships/image" Target="../media/image1.png"  /><Relationship Id="rId20" Type="http://schemas.openxmlformats.org/officeDocument/2006/relationships/image" Target="../media/image17.png"  /><Relationship Id="rId21" Type="http://schemas.openxmlformats.org/officeDocument/2006/relationships/image" Target="../media/image17.png"  /><Relationship Id="rId3" Type="http://schemas.openxmlformats.org/officeDocument/2006/relationships/image" Target="../media/image5.png"  /><Relationship Id="rId4" Type="http://schemas.openxmlformats.org/officeDocument/2006/relationships/image" Target="../media/image6.png"  /><Relationship Id="rId5" Type="http://schemas.openxmlformats.org/officeDocument/2006/relationships/image" Target="../media/image7.png"  /><Relationship Id="rId6" Type="http://schemas.openxmlformats.org/officeDocument/2006/relationships/image" Target="../media/image8.png"  /><Relationship Id="rId7" Type="http://schemas.openxmlformats.org/officeDocument/2006/relationships/image" Target="../media/image9.png"  /><Relationship Id="rId8" Type="http://schemas.openxmlformats.org/officeDocument/2006/relationships/image" Target="../media/image10.png"  /><Relationship Id="rId9" Type="http://schemas.openxmlformats.org/officeDocument/2006/relationships/image" Target="../media/image11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5.png"  /><Relationship Id="rId4" Type="http://schemas.openxmlformats.org/officeDocument/2006/relationships/image" Target="../media/image18.png"  /><Relationship Id="rId5" Type="http://schemas.openxmlformats.org/officeDocument/2006/relationships/image" Target="../media/image19.png"  /><Relationship Id="rId6" Type="http://schemas.openxmlformats.org/officeDocument/2006/relationships/image" Target="../media/image6.png"  /><Relationship Id="rId7" Type="http://schemas.openxmlformats.org/officeDocument/2006/relationships/image" Target="../media/image19.png"  /><Relationship Id="rId8" Type="http://schemas.openxmlformats.org/officeDocument/2006/relationships/image" Target="../media/image6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0.png"  /><Relationship Id="rId3" Type="http://schemas.openxmlformats.org/officeDocument/2006/relationships/image" Target="../media/image21.png"  /><Relationship Id="rId4" Type="http://schemas.openxmlformats.org/officeDocument/2006/relationships/image" Target="../media/image18.png"  /><Relationship Id="rId5" Type="http://schemas.openxmlformats.org/officeDocument/2006/relationships/image" Target="../media/image18.png"  /><Relationship Id="rId6" Type="http://schemas.openxmlformats.org/officeDocument/2006/relationships/image" Target="../media/image18.png"  /><Relationship Id="rId7" Type="http://schemas.openxmlformats.org/officeDocument/2006/relationships/hyperlink" Target="https://github.com/sungone/GP2025" TargetMode="External" /><Relationship Id="rId8" Type="http://schemas.openxmlformats.org/officeDocument/2006/relationships/hyperlink" Target="https://www.youtube.com/watch?v=NkqPZXgjn8c&amp;amp;ab_channel=%EB%B9%B5%EA%B5%AC" TargetMode="External" /><Relationship Id="rId9" Type="http://schemas.openxmlformats.org/officeDocument/2006/relationships/image" Target="../media/image22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0.png"  /><Relationship Id="rId3" Type="http://schemas.openxmlformats.org/officeDocument/2006/relationships/image" Target="../media/image21.png"  /><Relationship Id="rId4" Type="http://schemas.openxmlformats.org/officeDocument/2006/relationships/image" Target="../media/image18.png"  /><Relationship Id="rId5" Type="http://schemas.openxmlformats.org/officeDocument/2006/relationships/image" Target="../media/image18.png"  /><Relationship Id="rId6" Type="http://schemas.openxmlformats.org/officeDocument/2006/relationships/image" Target="../media/image18.png"  /><Relationship Id="rId7" Type="http://schemas.openxmlformats.org/officeDocument/2006/relationships/image" Target="../media/image23.png"  /><Relationship Id="rId8" Type="http://schemas.openxmlformats.org/officeDocument/2006/relationships/image" Target="../media/image24.png"  /><Relationship Id="rId9" Type="http://schemas.openxmlformats.org/officeDocument/2006/relationships/hyperlink" Target="https://github.com/sungone/GP2025/blob/main/Source/GP2025/Network/GPNetworkManager.h" TargetMode="External"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5.png"  /><Relationship Id="rId3" Type="http://schemas.openxmlformats.org/officeDocument/2006/relationships/image" Target="../media/image26.png"  /><Relationship Id="rId4" Type="http://schemas.openxmlformats.org/officeDocument/2006/relationships/image" Target="../media/image27.png"  /><Relationship Id="rId5" Type="http://schemas.openxmlformats.org/officeDocument/2006/relationships/image" Target="../media/image27.png"  /><Relationship Id="rId6" Type="http://schemas.openxmlformats.org/officeDocument/2006/relationships/image" Target="../media/image27.png"  /><Relationship Id="rId7" Type="http://schemas.openxmlformats.org/officeDocument/2006/relationships/hyperlink" Target="https://github.com/sungone/GP2025/blob/main/Source/GP2025/Network/GPNetworkManager.cpp" TargetMode="External" /><Relationship Id="rId8" Type="http://schemas.openxmlformats.org/officeDocument/2006/relationships/image" Target="../media/image28.png"  /><Relationship Id="rId9" Type="http://schemas.openxmlformats.org/officeDocument/2006/relationships/image" Target="../media/image29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32.png"  /><Relationship Id="rId2" Type="http://schemas.openxmlformats.org/officeDocument/2006/relationships/image" Target="../media/image25.png"  /><Relationship Id="rId3" Type="http://schemas.openxmlformats.org/officeDocument/2006/relationships/image" Target="../media/image26.png"  /><Relationship Id="rId4" Type="http://schemas.openxmlformats.org/officeDocument/2006/relationships/image" Target="../media/image27.png"  /><Relationship Id="rId5" Type="http://schemas.openxmlformats.org/officeDocument/2006/relationships/image" Target="../media/image27.png"  /><Relationship Id="rId6" Type="http://schemas.openxmlformats.org/officeDocument/2006/relationships/image" Target="../media/image27.png"  /><Relationship Id="rId7" Type="http://schemas.openxmlformats.org/officeDocument/2006/relationships/hyperlink" Target="https://github.com/sungone/GP2025/blob/main/Source/GP2025/Network/GPObjectManager.h" TargetMode="External" /><Relationship Id="rId8" Type="http://schemas.openxmlformats.org/officeDocument/2006/relationships/image" Target="../media/image30.png"  /><Relationship Id="rId9" Type="http://schemas.openxmlformats.org/officeDocument/2006/relationships/image" Target="../media/image31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5.png"  /><Relationship Id="rId3" Type="http://schemas.openxmlformats.org/officeDocument/2006/relationships/image" Target="../media/image26.png"  /><Relationship Id="rId4" Type="http://schemas.openxmlformats.org/officeDocument/2006/relationships/image" Target="../media/image27.png"  /><Relationship Id="rId5" Type="http://schemas.openxmlformats.org/officeDocument/2006/relationships/image" Target="../media/image27.png"  /><Relationship Id="rId6" Type="http://schemas.openxmlformats.org/officeDocument/2006/relationships/image" Target="../media/image27.png"  /><Relationship Id="rId7" Type="http://schemas.openxmlformats.org/officeDocument/2006/relationships/hyperlink" Target="https://github.com/sungone/GP2025/blob/main/Source/GP2025/Character/Modules/GPMyplayerNetworkSyncHandler.cpp&#160;" TargetMode="External"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5.png"  /><Relationship Id="rId3" Type="http://schemas.openxmlformats.org/officeDocument/2006/relationships/image" Target="../media/image26.png"  /><Relationship Id="rId4" Type="http://schemas.openxmlformats.org/officeDocument/2006/relationships/image" Target="../media/image27.png"  /><Relationship Id="rId5" Type="http://schemas.openxmlformats.org/officeDocument/2006/relationships/image" Target="../media/image27.png"  /><Relationship Id="rId6" Type="http://schemas.openxmlformats.org/officeDocument/2006/relationships/image" Target="../media/image27.png"  /><Relationship Id="rId7" Type="http://schemas.openxmlformats.org/officeDocument/2006/relationships/hyperlink" Target="https://github.com/sungone/GP2025/tree/main/Source/GP2025/Character" TargetMode="External" /><Relationship Id="rId8" Type="http://schemas.openxmlformats.org/officeDocument/2006/relationships/image" Target="../media/image33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5.png"  /><Relationship Id="rId3" Type="http://schemas.openxmlformats.org/officeDocument/2006/relationships/image" Target="../media/image26.png"  /><Relationship Id="rId4" Type="http://schemas.openxmlformats.org/officeDocument/2006/relationships/image" Target="../media/image27.png"  /><Relationship Id="rId5" Type="http://schemas.openxmlformats.org/officeDocument/2006/relationships/image" Target="../media/image27.png"  /><Relationship Id="rId6" Type="http://schemas.openxmlformats.org/officeDocument/2006/relationships/image" Target="../media/image27.png"  /><Relationship Id="rId7" Type="http://schemas.openxmlformats.org/officeDocument/2006/relationships/hyperlink" Target="https://github.com/sungone/GP2025/blob/main/Source/GP2025/Character/Modules/GPCharacterCombatHandler.h" TargetMode="External" /><Relationship Id="rId8" Type="http://schemas.openxmlformats.org/officeDocument/2006/relationships/image" Target="../media/image34.png"  /><Relationship Id="rId9" Type="http://schemas.openxmlformats.org/officeDocument/2006/relationships/image" Target="../media/image35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36.png"  /><Relationship Id="rId2" Type="http://schemas.openxmlformats.org/officeDocument/2006/relationships/image" Target="../media/image25.png"  /><Relationship Id="rId3" Type="http://schemas.openxmlformats.org/officeDocument/2006/relationships/image" Target="../media/image26.png"  /><Relationship Id="rId4" Type="http://schemas.openxmlformats.org/officeDocument/2006/relationships/image" Target="../media/image27.png"  /><Relationship Id="rId5" Type="http://schemas.openxmlformats.org/officeDocument/2006/relationships/image" Target="../media/image27.png"  /><Relationship Id="rId6" Type="http://schemas.openxmlformats.org/officeDocument/2006/relationships/image" Target="../media/image27.png"  /><Relationship Id="rId7" Type="http://schemas.openxmlformats.org/officeDocument/2006/relationships/hyperlink" Target="https://github.com/sungone/GP2025/tree/main/Source/GP2025/Item" TargetMode="External" /><Relationship Id="rId8" Type="http://schemas.openxmlformats.org/officeDocument/2006/relationships/hyperlink" Target="https://github.com/sungone/GP2025/tree/main/Source/GP2025/Inventory" TargetMode="External" /><Relationship Id="rId9" Type="http://schemas.openxmlformats.org/officeDocument/2006/relationships/hyperlink" Target="https://github.com/sungone/GP2025/tree/main/Source/GP2025/Shop" TargetMode="External"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5.png"  /><Relationship Id="rId3" Type="http://schemas.openxmlformats.org/officeDocument/2006/relationships/image" Target="../media/image26.png"  /><Relationship Id="rId4" Type="http://schemas.openxmlformats.org/officeDocument/2006/relationships/image" Target="../media/image27.png"  /><Relationship Id="rId5" Type="http://schemas.openxmlformats.org/officeDocument/2006/relationships/image" Target="../media/image27.png"  /><Relationship Id="rId6" Type="http://schemas.openxmlformats.org/officeDocument/2006/relationships/image" Target="../media/image27.png"  /><Relationship Id="rId7" Type="http://schemas.openxmlformats.org/officeDocument/2006/relationships/hyperlink" Target="https://github.com/sungone/GP2025/tree/main/Source/GP2025/UI" TargetMode="External" /><Relationship Id="rId8" Type="http://schemas.openxmlformats.org/officeDocument/2006/relationships/image" Target="../media/image37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5.png"  /><Relationship Id="rId3" Type="http://schemas.openxmlformats.org/officeDocument/2006/relationships/image" Target="../media/image26.png"  /><Relationship Id="rId4" Type="http://schemas.openxmlformats.org/officeDocument/2006/relationships/image" Target="../media/image27.png"  /><Relationship Id="rId5" Type="http://schemas.openxmlformats.org/officeDocument/2006/relationships/image" Target="../media/image27.png"  /><Relationship Id="rId6" Type="http://schemas.openxmlformats.org/officeDocument/2006/relationships/image" Target="../media/image27.png"  /><Relationship Id="rId7" Type="http://schemas.openxmlformats.org/officeDocument/2006/relationships/hyperlink" Target="https://github.com/sungone/Unity_Of_Mind" TargetMode="External" /><Relationship Id="rId8" Type="http://schemas.openxmlformats.org/officeDocument/2006/relationships/hyperlink" Target="https://www.youtube.com/watch?v=9u4resCQxrY&amp;ab_channel=yoon%EC%9D%80%EC%A7%80" TargetMode="External" /><Relationship Id="rId9" Type="http://schemas.openxmlformats.org/officeDocument/2006/relationships/image" Target="../media/image38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39.png"  /><Relationship Id="rId2" Type="http://schemas.openxmlformats.org/officeDocument/2006/relationships/image" Target="../media/image25.png"  /><Relationship Id="rId3" Type="http://schemas.openxmlformats.org/officeDocument/2006/relationships/image" Target="../media/image26.png"  /><Relationship Id="rId4" Type="http://schemas.openxmlformats.org/officeDocument/2006/relationships/image" Target="../media/image27.png"  /><Relationship Id="rId5" Type="http://schemas.openxmlformats.org/officeDocument/2006/relationships/image" Target="../media/image27.png"  /><Relationship Id="rId6" Type="http://schemas.openxmlformats.org/officeDocument/2006/relationships/image" Target="../media/image27.png"  /><Relationship Id="rId7" Type="http://schemas.openxmlformats.org/officeDocument/2006/relationships/hyperlink" Target="https://github.com/eunjiyun/Unity_Of_Mind/blob/main/CG_FinalProject/object.cpp" TargetMode="External" /><Relationship Id="rId8" Type="http://schemas.openxmlformats.org/officeDocument/2006/relationships/hyperlink" Target="https://github.com/eunjiyun/Unity_Of_Mind/blob/main/CG_FinalProject/wall.cpp" TargetMode="External" /><Relationship Id="rId9" Type="http://schemas.openxmlformats.org/officeDocument/2006/relationships/hyperlink" Target="https://github.com/eunjiyun/Unity_Of_Mind/blob/main/CG_FinalProject/player.cpp" TargetMode="External"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5.png"  /><Relationship Id="rId3" Type="http://schemas.openxmlformats.org/officeDocument/2006/relationships/image" Target="../media/image26.png"  /><Relationship Id="rId4" Type="http://schemas.openxmlformats.org/officeDocument/2006/relationships/image" Target="../media/image27.png"  /><Relationship Id="rId5" Type="http://schemas.openxmlformats.org/officeDocument/2006/relationships/image" Target="../media/image27.png"  /><Relationship Id="rId6" Type="http://schemas.openxmlformats.org/officeDocument/2006/relationships/image" Target="../media/image27.png"  /><Relationship Id="rId7" Type="http://schemas.openxmlformats.org/officeDocument/2006/relationships/hyperlink" Target="https://github.com/eunjiyun/Unity_Of_Mind/blob/main/CG_FinalProject/shader.cpp" TargetMode="External" /><Relationship Id="rId8" Type="http://schemas.openxmlformats.org/officeDocument/2006/relationships/image" Target="../media/image40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06400" y="520700"/>
            <a:ext cx="17475200" cy="9245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85800" y="787400"/>
            <a:ext cx="16916400" cy="8699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81100" y="7112000"/>
            <a:ext cx="15925800" cy="127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828800" y="3835400"/>
            <a:ext cx="14478000" cy="1600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defRPr/>
            </a:pPr>
            <a:r>
              <a:rPr lang="en-US" sz="9000" b="0" i="0" u="none" strike="noStrike" spc="-500">
                <a:solidFill>
                  <a:srgbClr val="000000"/>
                </a:solidFill>
                <a:latin typeface="Pretendard Bold"/>
              </a:rPr>
              <a:t>  </a:t>
            </a:r>
            <a:r>
              <a:rPr lang="ko-KR" altLang="en-US" sz="9000" b="1" i="0" u="none" strike="noStrike" spc="-500">
                <a:solidFill>
                  <a:srgbClr val="000000"/>
                </a:solidFill>
                <a:latin typeface="Pretendard Bold"/>
              </a:rPr>
              <a:t>게임 클라이언트 포트폴리오</a:t>
            </a:r>
            <a:r>
              <a:rPr lang="en-US" sz="9000" b="0" i="0" u="none" strike="noStrike" spc="-500">
                <a:solidFill>
                  <a:srgbClr val="000000"/>
                </a:solidFill>
                <a:latin typeface="Pretendard Bold"/>
              </a:rPr>
              <a:t> </a:t>
            </a:r>
            <a:endParaRPr lang="en-US" sz="9000" b="0" i="0" u="none" strike="noStrike" spc="-500">
              <a:solidFill>
                <a:srgbClr val="000000"/>
              </a:solidFill>
              <a:latin typeface="Pretendard Bold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8347550" y="8360249"/>
            <a:ext cx="1574800" cy="18101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322090" y="7620000"/>
            <a:ext cx="7302500" cy="11049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Pretendard SemiBold"/>
              </a:rPr>
              <a:t>CONTACT</a:t>
            </a:r>
            <a:endParaRPr lang="en-US" sz="1800" b="0" i="0" u="none" strike="noStrike">
              <a:solidFill>
                <a:srgbClr val="000000"/>
              </a:solidFill>
              <a:latin typeface="Pretendard Semi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322089" y="8177276"/>
            <a:ext cx="7288510" cy="839724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Pretendard Light"/>
              </a:rPr>
              <a:t>PHONE : 010 </a:t>
            </a:r>
            <a:r>
              <a:rPr lang="en-US" altLang="ko-KR" sz="1400" b="0" i="0" u="none" strike="noStrike">
                <a:solidFill>
                  <a:srgbClr val="000000"/>
                </a:solidFill>
                <a:latin typeface="Pretendard Light"/>
              </a:rPr>
              <a:t>9742 4028</a:t>
            </a:r>
            <a:r>
              <a:rPr lang="en-US" sz="1400" b="0" i="0" u="none" strike="noStrike">
                <a:solidFill>
                  <a:srgbClr val="000000"/>
                </a:solidFill>
                <a:latin typeface="Pretendard Light"/>
              </a:rPr>
              <a:t>   ⏐   MAIL : </a:t>
            </a:r>
            <a:r>
              <a:rPr lang="en-US" altLang="ko-KR" sz="1400" b="0" i="0" u="none" strike="noStrike">
                <a:solidFill>
                  <a:srgbClr val="000000"/>
                </a:solidFill>
                <a:latin typeface="Pretendard Light"/>
              </a:rPr>
              <a:t>sungone000604@gmail.com</a:t>
            </a:r>
            <a:endParaRPr lang="en-US" altLang="ko-KR" sz="1400" b="0" i="0" u="none" strike="noStrike">
              <a:solidFill>
                <a:srgbClr val="000000"/>
              </a:solidFill>
              <a:latin typeface="Pretendard Ligh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804400" y="8293100"/>
            <a:ext cx="6629400" cy="317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defRPr/>
            </a:pPr>
            <a:r>
              <a:rPr lang="en-US" altLang="ko-KR" sz="1800" b="0" i="0" u="none" strike="noStrike">
                <a:solidFill>
                  <a:srgbClr val="000000"/>
                </a:solidFill>
                <a:latin typeface="Pretendard SemiBold"/>
              </a:rPr>
              <a:t>Programmer</a:t>
            </a:r>
            <a:endParaRPr lang="en-US" altLang="ko-KR" sz="1800" b="0" i="0" u="none" strike="noStrike">
              <a:solidFill>
                <a:srgbClr val="000000"/>
              </a:solidFill>
              <a:latin typeface="Pretendard Semi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817100" y="8661400"/>
            <a:ext cx="6616700" cy="241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defRPr/>
            </a:pPr>
            <a:r>
              <a:rPr lang="ko-KR" altLang="en-US" sz="1400" b="0" i="0" u="none" strike="noStrike">
                <a:solidFill>
                  <a:srgbClr val="000000"/>
                </a:solidFill>
                <a:latin typeface="Pretendard Light"/>
              </a:rPr>
              <a:t>조성원</a:t>
            </a:r>
            <a:r>
              <a:rPr lang="en-US" sz="1400" b="0" i="0" u="none" strike="noStrike">
                <a:solidFill>
                  <a:srgbClr val="000000"/>
                </a:solidFill>
                <a:latin typeface="Pretendard Light"/>
              </a:rPr>
              <a:t> (</a:t>
            </a:r>
            <a:r>
              <a:rPr lang="en-US" altLang="ko-KR" sz="1400" b="0" i="0" u="none" strike="noStrike">
                <a:solidFill>
                  <a:srgbClr val="000000"/>
                </a:solidFill>
                <a:latin typeface="Pretendard Light"/>
              </a:rPr>
              <a:t>2000</a:t>
            </a:r>
            <a:r>
              <a:rPr lang="en-US" sz="1400" b="0" i="0" u="none" strike="noStrike">
                <a:solidFill>
                  <a:srgbClr val="000000"/>
                </a:solidFill>
                <a:latin typeface="Pretendard Light"/>
              </a:rPr>
              <a:t>.0</a:t>
            </a:r>
            <a:r>
              <a:rPr lang="en-US" altLang="ko-KR" sz="1400" b="0" i="0" u="none" strike="noStrike">
                <a:solidFill>
                  <a:srgbClr val="000000"/>
                </a:solidFill>
                <a:latin typeface="Pretendard Light"/>
              </a:rPr>
              <a:t>6</a:t>
            </a:r>
            <a:r>
              <a:rPr lang="en-US" sz="1400" b="0" i="0" u="none" strike="noStrike">
                <a:solidFill>
                  <a:srgbClr val="000000"/>
                </a:solidFill>
                <a:latin typeface="Pretendard Light"/>
              </a:rPr>
              <a:t>.0</a:t>
            </a:r>
            <a:r>
              <a:rPr lang="en-US" altLang="ko-KR" sz="1400" b="0" i="0" u="none" strike="noStrike">
                <a:solidFill>
                  <a:srgbClr val="000000"/>
                </a:solidFill>
                <a:latin typeface="Pretendard Light"/>
              </a:rPr>
              <a:t>4</a:t>
            </a:r>
            <a:r>
              <a:rPr lang="en-US" sz="1400" b="0" i="0" u="none" strike="noStrike">
                <a:solidFill>
                  <a:srgbClr val="000000"/>
                </a:solidFill>
                <a:latin typeface="Pretendard Light"/>
              </a:rPr>
              <a:t>)   ⏐ </a:t>
            </a:r>
            <a:r>
              <a:rPr lang="en-US" sz="1400" b="0" i="0" u="none" strike="noStrike">
                <a:solidFill>
                  <a:srgbClr val="000000"/>
                </a:solidFill>
                <a:latin typeface="Pretendard Light"/>
                <a:hlinkClick r:id="rId6"/>
              </a:rPr>
              <a:t>  </a:t>
            </a:r>
            <a:r>
              <a:rPr lang="en-US" altLang="ko-KR" sz="1400" b="0" i="0" u="none" strike="noStrike">
                <a:solidFill>
                  <a:srgbClr val="000000"/>
                </a:solidFill>
                <a:latin typeface="Pretendard Light"/>
                <a:hlinkClick r:id="rId6"/>
              </a:rPr>
              <a:t>https://github.com/sungone</a:t>
            </a:r>
            <a:endParaRPr lang="en-US" altLang="ko-KR" sz="1400" b="0" i="0" u="none" strike="noStrike">
              <a:solidFill>
                <a:srgbClr val="000000"/>
              </a:solidFill>
              <a:latin typeface="Pretendard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06400" y="520700"/>
            <a:ext cx="17475200" cy="9245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81000" y="495300"/>
            <a:ext cx="17513300" cy="9283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81100" y="8851900"/>
            <a:ext cx="159258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81100" y="1422400"/>
            <a:ext cx="15925800" cy="12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81100" y="2590800"/>
            <a:ext cx="159258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-5400000">
            <a:off x="6464300" y="5715000"/>
            <a:ext cx="5359400" cy="127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130300" y="1625600"/>
            <a:ext cx="16002000" cy="673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3800" b="false" i="false" u="none" strike="noStrike">
                <a:solidFill>
                  <a:srgbClr val="000000"/>
                </a:solidFill>
                <a:ea typeface="Pretendard SemiBold"/>
              </a:rPr>
              <a:t>이력사항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713200" y="1625600"/>
            <a:ext cx="3810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Pretendard Bold"/>
              </a:rPr>
              <a:t>01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041900" y="4381500"/>
            <a:ext cx="215900" cy="215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029200" y="4813300"/>
            <a:ext cx="241300" cy="1778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5029200" y="3251200"/>
            <a:ext cx="33782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defRPr/>
            </a:pPr>
            <a:r>
              <a:rPr lang="ko-KR" altLang="en-US" sz="2500" b="0" i="0" u="none" strike="noStrike">
                <a:solidFill>
                  <a:srgbClr val="000000"/>
                </a:solidFill>
                <a:ea typeface="Pretendard SemiBold"/>
              </a:rPr>
              <a:t>조성원</a:t>
            </a:r>
            <a:r>
              <a:rPr lang="en-US" sz="25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en-US" altLang="ko-KR" sz="1800" b="0" i="0" u="none" strike="noStrike">
                <a:solidFill>
                  <a:srgbClr val="000000"/>
                </a:solidFill>
                <a:latin typeface="Pretendard Light"/>
              </a:rPr>
              <a:t>2000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.0</a:t>
            </a:r>
            <a:r>
              <a:rPr lang="en-US" altLang="ko-KR" sz="1800" b="0" i="0" u="none" strike="noStrike">
                <a:solidFill>
                  <a:srgbClr val="000000"/>
                </a:solidFill>
                <a:latin typeface="Pretendard Light"/>
              </a:rPr>
              <a:t>6</a:t>
            </a:r>
            <a:r>
              <a:rPr lang="en-US" sz="1800" b="0" i="0" u="none" strike="noStrike">
                <a:solidFill>
                  <a:srgbClr val="000000"/>
                </a:solidFill>
                <a:latin typeface="Pretendard Light"/>
              </a:rPr>
              <a:t>.0</a:t>
            </a:r>
            <a:r>
              <a:rPr lang="en-US" altLang="ko-KR" sz="1800" b="0" i="0" u="none" strike="noStrike">
                <a:solidFill>
                  <a:srgbClr val="000000"/>
                </a:solidFill>
                <a:latin typeface="Pretendard Light"/>
              </a:rPr>
              <a:t>4</a:t>
            </a:r>
            <a:endParaRPr lang="en-US" altLang="ko-KR" sz="1800" b="0" i="0" u="none" strike="noStrike">
              <a:solidFill>
                <a:srgbClr val="000000"/>
              </a:solidFill>
              <a:latin typeface="Pretendard Light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029200" y="3746500"/>
            <a:ext cx="3657600" cy="3810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defRPr/>
            </a:pPr>
            <a:r>
              <a:rPr lang="ko-KR" altLang="en-US" sz="2200" b="0" i="0" u="none" strike="noStrike">
                <a:solidFill>
                  <a:srgbClr val="000000"/>
                </a:solidFill>
                <a:ea typeface="Pretendard Light"/>
              </a:rPr>
              <a:t>게임 클라이언트 프로그래머</a:t>
            </a:r>
            <a:endParaRPr lang="ko-KR" altLang="en-US" sz="2200" b="0" i="0" u="none" strike="noStrike">
              <a:solidFill>
                <a:srgbClr val="000000"/>
              </a:solidFill>
              <a:ea typeface="Pretendard Light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5473700" y="4343400"/>
            <a:ext cx="2908300" cy="279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010-</a:t>
            </a:r>
            <a:r>
              <a:rPr lang="en-US" altLang="ko-KR" sz="1600" b="0" i="0" u="none" strike="noStrike">
                <a:solidFill>
                  <a:srgbClr val="000000"/>
                </a:solidFill>
                <a:latin typeface="Pretendard Light"/>
              </a:rPr>
              <a:t>9742-4028</a:t>
            </a:r>
            <a:endParaRPr lang="en-US" altLang="ko-KR" sz="1600" b="0" i="0" u="none" strike="noStrike">
              <a:solidFill>
                <a:srgbClr val="000000"/>
              </a:solidFill>
              <a:latin typeface="Pretendard Light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5473700" y="4762500"/>
            <a:ext cx="3670300" cy="279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1600" b="0" i="0" u="none" strike="noStrike">
                <a:solidFill>
                  <a:srgbClr val="000000"/>
                </a:solidFill>
                <a:latin typeface="Pretendard Light"/>
              </a:rPr>
              <a:t>sungone000604</a:t>
            </a:r>
            <a:r>
              <a:rPr lang="en-US" sz="1600" b="0" i="0" u="none" strike="noStrike">
                <a:solidFill>
                  <a:srgbClr val="000000"/>
                </a:solidFill>
                <a:latin typeface="Pretendard Light"/>
              </a:rPr>
              <a:t>@</a:t>
            </a:r>
            <a:r>
              <a:rPr lang="en-US" altLang="ko-KR" sz="1600" b="0" i="0" u="none" strike="noStrike">
                <a:solidFill>
                  <a:srgbClr val="000000"/>
                </a:solidFill>
                <a:latin typeface="Pretendard Light"/>
              </a:rPr>
              <a:t>gmail.com</a:t>
            </a:r>
            <a:endParaRPr lang="en-US" altLang="ko-KR" sz="1600" b="0" i="0" u="none" strike="noStrike">
              <a:solidFill>
                <a:srgbClr val="000000"/>
              </a:solidFill>
              <a:latin typeface="Pretendard Light"/>
            </a:endParaRP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563100" y="3022600"/>
            <a:ext cx="7543800" cy="12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563100" y="3632200"/>
            <a:ext cx="7543800" cy="127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9563100" y="3035300"/>
            <a:ext cx="7543800" cy="5969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 rot="16200000">
            <a:off x="10782300" y="4787900"/>
            <a:ext cx="1587500" cy="127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1181100" y="6070600"/>
            <a:ext cx="7543800" cy="5969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1181100" y="6045200"/>
            <a:ext cx="7543800" cy="127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1181100" y="6667500"/>
            <a:ext cx="7543800" cy="127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1422400" y="6210300"/>
            <a:ext cx="70612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1800" b="false" i="false" u="none" strike="noStrike">
                <a:solidFill>
                  <a:srgbClr val="000000"/>
                </a:solidFill>
                <a:ea typeface="Pretendard SemiBold"/>
              </a:rPr>
              <a:t>학력사항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9563100" y="6057900"/>
            <a:ext cx="7543800" cy="127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9563100" y="6667500"/>
            <a:ext cx="7543800" cy="127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9563100" y="6070600"/>
            <a:ext cx="7543800" cy="5969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9804400" y="6210300"/>
            <a:ext cx="7061200" cy="317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defRPr/>
            </a:pPr>
            <a:r>
              <a:rPr lang="ko-KR" altLang="en-US" sz="1800" b="0" i="0" u="none" strike="noStrike">
                <a:solidFill>
                  <a:srgbClr val="000000"/>
                </a:solidFill>
                <a:ea typeface="Pretendard SemiBold"/>
              </a:rPr>
              <a:t>기술 스택</a:t>
            </a:r>
            <a:endParaRPr lang="ko-KR" altLang="en-US" sz="1800" b="0" i="0" u="none" strike="noStrike">
              <a:solidFill>
                <a:srgbClr val="000000"/>
              </a:solidFill>
              <a:ea typeface="Pretendard SemiBold"/>
            </a:endParaR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 rot="16200000">
            <a:off x="12884150" y="7727950"/>
            <a:ext cx="1371600" cy="127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 rot="16200000">
            <a:off x="2736056" y="7454106"/>
            <a:ext cx="857250" cy="7937"/>
          </a:xfrm>
          <a:prstGeom prst="rect">
            <a:avLst/>
          </a:prstGeom>
        </p:spPr>
      </p:pic>
      <p:sp>
        <p:nvSpPr>
          <p:cNvPr name="TextBox 34" id="34"/>
          <p:cNvSpPr txBox="true"/>
          <p:nvPr/>
        </p:nvSpPr>
        <p:spPr>
          <a:xfrm rot="0">
            <a:off x="9804400" y="3175000"/>
            <a:ext cx="70612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1800" b="false" i="false" u="none" strike="noStrike">
                <a:solidFill>
                  <a:srgbClr val="000000"/>
                </a:solidFill>
                <a:ea typeface="Pretendard SemiBold"/>
              </a:rPr>
              <a:t>경력사항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550400" y="3987800"/>
            <a:ext cx="1828800" cy="27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000000"/>
                </a:solidFill>
                <a:latin typeface="Pretendard Regular"/>
              </a:rPr>
              <a:t>20XX.01~20XX.05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811000" y="3975100"/>
            <a:ext cx="5334000" cy="292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미리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기업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마케팅부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인턴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550400" y="4419600"/>
            <a:ext cx="1828800" cy="27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000000"/>
                </a:solidFill>
                <a:latin typeface="Pretendard Regular"/>
              </a:rPr>
              <a:t>20XX.03~20XX.11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811000" y="4419600"/>
            <a:ext cx="5334000" cy="292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미리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기업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마케팅부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근무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55700" y="7124700"/>
            <a:ext cx="1828800" cy="279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20</a:t>
            </a:r>
            <a:r>
              <a:rPr lang="en-US" altLang="ko-KR" sz="1600" b="0" i="0" u="none" strike="noStrike">
                <a:solidFill>
                  <a:srgbClr val="000000"/>
                </a:solidFill>
                <a:latin typeface="Pretendard Regular"/>
              </a:rPr>
              <a:t>16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.03~20</a:t>
            </a:r>
            <a:r>
              <a:rPr lang="en-US" altLang="ko-KR" sz="1600" b="0" i="0" u="none" strike="noStrike">
                <a:solidFill>
                  <a:srgbClr val="000000"/>
                </a:solidFill>
                <a:latin typeface="Pretendard Regular"/>
              </a:rPr>
              <a:t>19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.02</a:t>
            </a:r>
            <a:endParaRPr lang="en-US" sz="1600" b="0" i="0" u="none" strike="noStrike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1155700" y="7569200"/>
            <a:ext cx="1828800" cy="279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20</a:t>
            </a:r>
            <a:r>
              <a:rPr lang="en-US" altLang="ko-KR" sz="1600" b="0" i="0" u="none" strike="noStrike">
                <a:solidFill>
                  <a:srgbClr val="000000"/>
                </a:solidFill>
                <a:latin typeface="Pretendard Regular"/>
              </a:rPr>
              <a:t>19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.03~20</a:t>
            </a:r>
            <a:r>
              <a:rPr lang="en-US" altLang="ko-KR" sz="1600" b="0" i="0" u="none" strike="noStrike">
                <a:solidFill>
                  <a:srgbClr val="000000"/>
                </a:solidFill>
                <a:latin typeface="Pretendard Regular"/>
              </a:rPr>
              <a:t>26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.02</a:t>
            </a:r>
            <a:endParaRPr lang="en-US" sz="1600" b="0" i="0" u="none" strike="noStrike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3429000" y="7112000"/>
            <a:ext cx="5334000" cy="2921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defRPr/>
            </a:pPr>
            <a:r>
              <a:rPr lang="ko-KR" altLang="en-US" sz="1700" b="0" i="0" u="none" strike="noStrike">
                <a:solidFill>
                  <a:srgbClr val="000000"/>
                </a:solidFill>
                <a:ea typeface="Pretendard Regular"/>
              </a:rPr>
              <a:t>광주진흥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고등학교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졸업</a:t>
            </a:r>
            <a:endParaRPr lang="ko-KR" sz="1700" b="0" i="0" u="none" strike="noStrike">
              <a:solidFill>
                <a:srgbClr val="000000"/>
              </a:solidFill>
              <a:ea typeface="Pretendard Regular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3429000" y="7556500"/>
            <a:ext cx="5334000" cy="2921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defRPr/>
            </a:pPr>
            <a:r>
              <a:rPr lang="ko-KR" altLang="en-US" sz="1700" b="0" i="0" u="none" strike="noStrike">
                <a:solidFill>
                  <a:srgbClr val="000000"/>
                </a:solidFill>
                <a:ea typeface="Pretendard Regular"/>
              </a:rPr>
              <a:t>한국공학대학교 게임공학과</a:t>
            </a:r>
            <a:r>
              <a:rPr lang="en-US" sz="1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0" i="0" u="none" strike="noStrike">
                <a:solidFill>
                  <a:srgbClr val="000000"/>
                </a:solidFill>
                <a:ea typeface="Pretendard Regular"/>
              </a:rPr>
              <a:t>졸업</a:t>
            </a:r>
            <a:endParaRPr lang="ko-KR" sz="1700" b="0" i="0" u="none" strike="noStrike">
              <a:solidFill>
                <a:srgbClr val="000000"/>
              </a:solidFill>
              <a:ea typeface="Pretendard Regular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11353800" y="7137400"/>
            <a:ext cx="1828800" cy="279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defRPr/>
            </a:pPr>
            <a:r>
              <a:rPr lang="en-US" altLang="ko-KR" sz="1600" b="0" i="0" u="none" strike="noStrike">
                <a:solidFill>
                  <a:srgbClr val="000000"/>
                </a:solidFill>
                <a:latin typeface="Pretendard Regular"/>
              </a:rPr>
              <a:t>Unreal Engine 5</a:t>
            </a:r>
            <a:endParaRPr lang="en-US" altLang="ko-KR" sz="1600" b="0" i="0" u="none" strike="noStrike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11353800" y="7581900"/>
            <a:ext cx="1828800" cy="279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defRPr/>
            </a:pPr>
            <a:r>
              <a:rPr lang="en-US" altLang="ko-KR" sz="1600" b="0" i="0" u="none" strike="noStrike">
                <a:solidFill>
                  <a:srgbClr val="000000"/>
                </a:solidFill>
                <a:latin typeface="Pretendard Regular"/>
              </a:rPr>
              <a:t>C++</a:t>
            </a:r>
            <a:endParaRPr lang="en-US" altLang="ko-KR" sz="1600" b="0" i="0" u="none" strike="noStrike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11353800" y="8039100"/>
            <a:ext cx="1828800" cy="279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defRPr/>
            </a:pPr>
            <a:r>
              <a:rPr lang="en-US" altLang="ko-KR" sz="1600" b="0" i="0" u="none" strike="noStrike">
                <a:solidFill>
                  <a:srgbClr val="000000"/>
                </a:solidFill>
                <a:latin typeface="Pretendard Regular"/>
              </a:rPr>
              <a:t>OpenGL</a:t>
            </a:r>
            <a:endParaRPr lang="en-US" altLang="ko-KR" sz="1600" b="0" i="0" u="none" strike="noStrike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55" name="TextBox 49"/>
          <p:cNvSpPr txBox="1"/>
          <p:nvPr/>
        </p:nvSpPr>
        <p:spPr>
          <a:xfrm>
            <a:off x="13944600" y="7124700"/>
            <a:ext cx="1828800" cy="279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defRPr/>
            </a:pPr>
            <a:r>
              <a:rPr lang="en-US" altLang="ko-KR" sz="1600" b="0" i="0" u="none" strike="noStrike">
                <a:solidFill>
                  <a:srgbClr val="000000"/>
                </a:solidFill>
                <a:latin typeface="Pretendard Regular"/>
              </a:rPr>
              <a:t>Git</a:t>
            </a:r>
            <a:endParaRPr lang="en-US" altLang="ko-KR" sz="1600" b="0" i="0" u="none" strike="noStrike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56" name="TextBox 50"/>
          <p:cNvSpPr txBox="1"/>
          <p:nvPr/>
        </p:nvSpPr>
        <p:spPr>
          <a:xfrm>
            <a:off x="13944600" y="7569200"/>
            <a:ext cx="1828800" cy="279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defRPr/>
            </a:pPr>
            <a:r>
              <a:rPr lang="en-US" altLang="ko-KR" sz="1600" b="0" i="0" u="none" strike="noStrike">
                <a:solidFill>
                  <a:srgbClr val="000000"/>
                </a:solidFill>
                <a:latin typeface="Pretendard Regular"/>
              </a:rPr>
              <a:t>Visual Studio</a:t>
            </a:r>
            <a:endParaRPr lang="en-US" altLang="ko-KR" sz="1600" b="0" i="0" u="none" strike="noStrike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57" name="TextBox 51"/>
          <p:cNvSpPr txBox="1"/>
          <p:nvPr/>
        </p:nvSpPr>
        <p:spPr>
          <a:xfrm>
            <a:off x="13944600" y="8026400"/>
            <a:ext cx="2514600" cy="279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defRPr/>
            </a:pPr>
            <a:r>
              <a:rPr lang="en-US" altLang="ko-KR" sz="1600" b="0" i="0" u="none" strike="noStrike">
                <a:solidFill>
                  <a:srgbClr val="000000"/>
                </a:solidFill>
                <a:latin typeface="Pretendard Regular"/>
              </a:rPr>
              <a:t>Socket Programming</a:t>
            </a:r>
            <a:endParaRPr lang="en-US" altLang="ko-KR" sz="1600" b="0" i="0" u="none" strike="noStrike">
              <a:solidFill>
                <a:srgbClr val="000000"/>
              </a:solidFill>
              <a:latin typeface="Pretendard Regula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06400" y="520700"/>
            <a:ext cx="17475200" cy="9245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81000" y="495300"/>
            <a:ext cx="17513300" cy="9283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81100" y="4089400"/>
            <a:ext cx="159258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8420100" y="5156200"/>
            <a:ext cx="1447800" cy="12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81100" y="6223000"/>
            <a:ext cx="159258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-5400000">
            <a:off x="8420100" y="7289800"/>
            <a:ext cx="1447800" cy="12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81100" y="8356600"/>
            <a:ext cx="15925800" cy="127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7435850" y="1485899"/>
            <a:ext cx="3416300" cy="7620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defRPr/>
            </a:pPr>
            <a:r>
              <a:rPr lang="en-US" altLang="ko-KR" sz="4300" b="1" i="0" u="none" strike="noStrike" spc="-200">
                <a:solidFill>
                  <a:srgbClr val="000000"/>
                </a:solidFill>
                <a:latin typeface="Pretendard Bold"/>
              </a:rPr>
              <a:t>Contents</a:t>
            </a:r>
            <a:endParaRPr lang="en-US" altLang="ko-KR" sz="4300" b="1" i="0" u="none" strike="noStrike" spc="-200">
              <a:solidFill>
                <a:srgbClr val="000000"/>
              </a:solidFill>
              <a:latin typeface="Pretendard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651000" y="4559300"/>
            <a:ext cx="6464300" cy="4191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defRPr/>
            </a:pPr>
            <a:r>
              <a:rPr lang="ko-KR" altLang="en-US" sz="2400" b="0" i="0" u="none" strike="noStrike">
                <a:solidFill>
                  <a:srgbClr val="000000"/>
                </a:solidFill>
                <a:ea typeface="Pretendard SemiBold"/>
              </a:rPr>
              <a:t>티유월드 </a:t>
            </a:r>
            <a:endParaRPr lang="ko-KR" altLang="en-US" sz="2400" b="0" i="0" u="none" strike="noStrike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651000" y="5092700"/>
            <a:ext cx="6438900" cy="660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defRPr/>
            </a:pPr>
            <a:r>
              <a:rPr lang="en-US" altLang="ko-KR" sz="1700" b="0" i="0" u="none" strike="noStrike">
                <a:solidFill>
                  <a:srgbClr val="000000"/>
                </a:solidFill>
                <a:latin typeface="Pretendard Light"/>
              </a:rPr>
              <a:t>-</a:t>
            </a:r>
            <a:r>
              <a:rPr lang="ko-KR" alt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en-US" altLang="ko-KR" sz="1700" b="0" i="0" u="none" strike="noStrike">
                <a:solidFill>
                  <a:srgbClr val="000000"/>
                </a:solidFill>
                <a:latin typeface="Pretendard Light"/>
              </a:rPr>
              <a:t>3D MMORPG </a:t>
            </a:r>
            <a:endParaRPr lang="en-US" altLang="ko-KR" sz="1700" b="0" i="0" u="none" strike="noStrike">
              <a:solidFill>
                <a:srgbClr val="000000"/>
              </a:solidFill>
              <a:latin typeface="Pretendard Light"/>
            </a:endParaRPr>
          </a:p>
          <a:p>
            <a:pPr lvl="0" algn="l">
              <a:lnSpc>
                <a:spcPct val="141100"/>
              </a:lnSpc>
              <a:defRPr/>
            </a:pPr>
            <a:r>
              <a:rPr lang="en-US" altLang="ko-KR" sz="1700" b="0" i="0" u="none" strike="noStrike">
                <a:solidFill>
                  <a:srgbClr val="000000"/>
                </a:solidFill>
                <a:latin typeface="Pretendard Light"/>
              </a:rPr>
              <a:t>-</a:t>
            </a:r>
            <a:r>
              <a:rPr lang="ko-KR" alt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en-US" altLang="ko-KR" sz="1700" b="0" i="0" u="none" strike="noStrike">
                <a:solidFill>
                  <a:srgbClr val="000000"/>
                </a:solidFill>
                <a:latin typeface="Pretendard Light"/>
              </a:rPr>
              <a:t>Unreal Engine 5 , C++</a:t>
            </a:r>
            <a:endParaRPr lang="en-US" altLang="ko-KR" sz="1700" b="0" i="0" u="none" strike="noStrike">
              <a:solidFill>
                <a:srgbClr val="000000"/>
              </a:solidFill>
              <a:latin typeface="Pretendard Light"/>
            </a:endParaRPr>
          </a:p>
        </p:txBody>
      </p:sp>
      <p:sp>
        <p:nvSpPr>
          <p:cNvPr name="TextBox 15" id="15"/>
          <p:cNvSpPr txBox="true"/>
          <p:nvPr/>
        </p:nvSpPr>
        <p:spPr>
          <a:xfrm rot="0">
            <a:off x="8382000" y="4432300"/>
            <a:ext cx="3810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Pretendard Bold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26600" y="4559300"/>
            <a:ext cx="6464300" cy="4191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2400" b="0" i="0" u="none" strike="noStrike">
                <a:solidFill>
                  <a:srgbClr val="000000"/>
                </a:solidFill>
                <a:ea typeface="Pretendard SemiBold"/>
              </a:rPr>
              <a:t>Unity Of Mind</a:t>
            </a:r>
            <a:endParaRPr lang="en-US" altLang="ko-KR" sz="2400" b="0" i="0" u="none" strike="noStrike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626600" y="5092700"/>
            <a:ext cx="6438900" cy="660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defRPr/>
            </a:pPr>
            <a:r>
              <a:rPr lang="en-US" altLang="ko-KR" sz="1700" b="0" i="0" u="none" strike="noStrike">
                <a:solidFill>
                  <a:srgbClr val="000000"/>
                </a:solidFill>
                <a:latin typeface="Pretendard Light"/>
              </a:rPr>
              <a:t>-</a:t>
            </a:r>
            <a:r>
              <a:rPr lang="ko-KR" alt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en-US" altLang="ko-KR" sz="1700" b="0" i="0" u="none" strike="noStrike">
                <a:solidFill>
                  <a:srgbClr val="000000"/>
                </a:solidFill>
                <a:latin typeface="Pretendard Light"/>
              </a:rPr>
              <a:t>3</a:t>
            </a:r>
            <a:r>
              <a:rPr lang="ko-KR" altLang="en-US" sz="1700" b="0" i="0" u="none" strike="noStrike">
                <a:solidFill>
                  <a:srgbClr val="000000"/>
                </a:solidFill>
                <a:latin typeface="Pretendard Light"/>
              </a:rPr>
              <a:t>인 협동 벽 피하기 게임</a:t>
            </a:r>
            <a:endParaRPr lang="ko-KR" altLang="en-US" sz="1700" b="0" i="0" u="none" strike="noStrike">
              <a:solidFill>
                <a:srgbClr val="000000"/>
              </a:solidFill>
              <a:latin typeface="Pretendard Light"/>
            </a:endParaRPr>
          </a:p>
          <a:p>
            <a:pPr lvl="0" algn="l">
              <a:lnSpc>
                <a:spcPct val="141100"/>
              </a:lnSpc>
              <a:defRPr/>
            </a:pPr>
            <a:r>
              <a:rPr lang="en-US" altLang="ko-KR" sz="1700" b="0" i="0" u="none" strike="noStrike">
                <a:solidFill>
                  <a:srgbClr val="000000"/>
                </a:solidFill>
                <a:latin typeface="Pretendard Light"/>
              </a:rPr>
              <a:t>-</a:t>
            </a:r>
            <a:r>
              <a:rPr lang="ko-KR" altLang="en-US" sz="17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en-US" altLang="ko-KR" sz="1700" b="0" i="0" u="none" strike="noStrike">
                <a:solidFill>
                  <a:srgbClr val="000000"/>
                </a:solidFill>
                <a:latin typeface="Pretendard Light"/>
              </a:rPr>
              <a:t>OpenGL , C++</a:t>
            </a:r>
            <a:endParaRPr lang="en-US" altLang="ko-KR" sz="1700" b="0" i="0" u="none" strike="noStrike">
              <a:solidFill>
                <a:srgbClr val="000000"/>
              </a:solidFill>
              <a:latin typeface="Pretendard Light"/>
            </a:endParaRPr>
          </a:p>
        </p:txBody>
      </p:sp>
      <p:sp>
        <p:nvSpPr>
          <p:cNvPr name="TextBox 18" id="18"/>
          <p:cNvSpPr txBox="true"/>
          <p:nvPr/>
        </p:nvSpPr>
        <p:spPr>
          <a:xfrm rot="0">
            <a:off x="16344900" y="4432300"/>
            <a:ext cx="3810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Pretendard Bold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51000" y="6692900"/>
            <a:ext cx="6464300" cy="4191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defRPr/>
            </a:pPr>
            <a:r>
              <a:rPr lang="ko-KR" altLang="en-US" sz="2400" b="0" i="0" u="none" strike="noStrike">
                <a:solidFill>
                  <a:srgbClr val="000000"/>
                </a:solidFill>
                <a:ea typeface="Pretendard SemiBold"/>
              </a:rPr>
              <a:t>아직 없음</a:t>
            </a:r>
            <a:endParaRPr lang="ko-KR" altLang="en-US" sz="2400" b="0" i="0" u="none" strike="noStrike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651000" y="7226300"/>
            <a:ext cx="6438900" cy="660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defRPr/>
            </a:pPr>
            <a:r>
              <a:rPr lang="ko-KR" altLang="en-US" sz="1700" b="0" i="0" u="none" strike="noStrike">
                <a:solidFill>
                  <a:srgbClr val="000000"/>
                </a:solidFill>
                <a:latin typeface="Pretendard Light"/>
              </a:rPr>
              <a:t>추가할 예정</a:t>
            </a:r>
            <a:endParaRPr lang="ko-KR" altLang="en-US" sz="1700" b="0" i="0" u="none" strike="noStrike">
              <a:solidFill>
                <a:srgbClr val="000000"/>
              </a:solidFill>
              <a:latin typeface="Pretendard Light"/>
            </a:endParaRPr>
          </a:p>
        </p:txBody>
      </p:sp>
      <p:sp>
        <p:nvSpPr>
          <p:cNvPr name="TextBox 21" id="21"/>
          <p:cNvSpPr txBox="true"/>
          <p:nvPr/>
        </p:nvSpPr>
        <p:spPr>
          <a:xfrm rot="0">
            <a:off x="8382000" y="6565900"/>
            <a:ext cx="3810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Pretendard Bold"/>
              </a:rPr>
              <a:t>03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26600" y="6692900"/>
            <a:ext cx="6464300" cy="4191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defRPr/>
            </a:pPr>
            <a:r>
              <a:rPr lang="ko-KR" altLang="en-US" sz="2400" b="0" i="0" u="none" strike="noStrike">
                <a:solidFill>
                  <a:srgbClr val="000000"/>
                </a:solidFill>
                <a:ea typeface="Pretendard SemiBold"/>
              </a:rPr>
              <a:t>아직 없음</a:t>
            </a:r>
            <a:endParaRPr lang="ko-KR" altLang="en-US" sz="2400" b="0" i="0" u="none" strike="noStrike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name="TextBox 23" id="23"/>
          <p:cNvSpPr txBox="true"/>
          <p:nvPr/>
        </p:nvSpPr>
        <p:spPr>
          <a:xfrm rot="0">
            <a:off x="9626600" y="7226300"/>
            <a:ext cx="6438900" cy="660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ko-KR" sz="1700" b="false" i="false" u="none" strike="noStrike">
                <a:solidFill>
                  <a:srgbClr val="000000"/>
                </a:solidFill>
                <a:ea typeface="Pretendard Light"/>
              </a:rPr>
              <a:t>이곳에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Light"/>
              </a:rPr>
              <a:t>목차의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Light"/>
              </a:rPr>
              <a:t>세부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Light"/>
              </a:rPr>
              <a:t>내용을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Light"/>
              </a:rPr>
              <a:t> 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Light"/>
              </a:rPr>
              <a:t>입력해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Light"/>
              </a:rPr>
              <a:t>주세요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  <a:p>
            <a:pPr algn="l" lvl="0">
              <a:lnSpc>
                <a:spcPct val="141100"/>
              </a:lnSpc>
            </a:pPr>
            <a:r>
              <a:rPr lang="ko-KR" sz="1700" b="false" i="false" u="none" strike="noStrike">
                <a:solidFill>
                  <a:srgbClr val="000000"/>
                </a:solidFill>
                <a:ea typeface="Pretendard Light"/>
              </a:rPr>
              <a:t>이곳에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Light"/>
              </a:rPr>
              <a:t>목차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Light"/>
              </a:rPr>
              <a:t>설명에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Light"/>
              </a:rPr>
              <a:t>필요한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Light"/>
              </a:rPr>
              <a:t>내용을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Light"/>
              </a:rPr>
              <a:t>간단하게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Light"/>
              </a:rPr>
              <a:t>입력해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Light"/>
              </a:rPr>
              <a:t>주세요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344900" y="6565900"/>
            <a:ext cx="3810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Pretendard Bold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06400" y="520700"/>
            <a:ext cx="17475200" cy="9245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81000" y="495300"/>
            <a:ext cx="17513300" cy="9283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81100" y="8851900"/>
            <a:ext cx="159258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81100" y="1422400"/>
            <a:ext cx="159258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181100" y="2590800"/>
            <a:ext cx="15925800" cy="127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130300" y="1625600"/>
            <a:ext cx="16002000" cy="685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defRPr/>
            </a:pPr>
            <a:r>
              <a:rPr lang="ko-KR" altLang="en-US" sz="3800" b="0" i="0" u="none" strike="noStrike">
                <a:solidFill>
                  <a:srgbClr val="000000"/>
                </a:solidFill>
                <a:ea typeface="Pretendard SemiBold"/>
              </a:rPr>
              <a:t>티유월드</a:t>
            </a:r>
            <a:endParaRPr lang="ko-KR" altLang="en-US" sz="3800" b="0" i="0" u="none" strike="noStrike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6713200" y="1625600"/>
            <a:ext cx="381000" cy="266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r">
              <a:lnSpc>
                <a:spcPct val="116199"/>
              </a:lnSpc>
              <a:defRPr/>
            </a:pPr>
            <a:r>
              <a:rPr lang="en-US" sz="1500" b="0" i="0" u="none" strike="noStrike">
                <a:solidFill>
                  <a:srgbClr val="000000"/>
                </a:solidFill>
                <a:latin typeface="Pretendard Bold"/>
              </a:rPr>
              <a:t>0</a:t>
            </a:r>
            <a:r>
              <a:rPr lang="en-US" altLang="ko-KR" sz="1500" b="0" i="0" u="none" strike="noStrike">
                <a:solidFill>
                  <a:srgbClr val="000000"/>
                </a:solidFill>
                <a:latin typeface="Pretendard Bold"/>
              </a:rPr>
              <a:t>1</a:t>
            </a:r>
            <a:endParaRPr lang="en-US" altLang="ko-KR" sz="1500" b="0" i="0" u="none" strike="noStrike">
              <a:solidFill>
                <a:srgbClr val="000000"/>
              </a:solidFill>
              <a:latin typeface="Pretendard Bold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19200" y="3314700"/>
            <a:ext cx="13716000" cy="5257800"/>
          </a:xfrm>
          <a:prstGeom prst="rect">
            <a:avLst/>
          </a:prstGeom>
        </p:spPr>
        <p:txBody>
          <a:bodyPr lIns="0" tIns="0" rIns="0" bIns="0" anchor="ctr"/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 </a:t>
            </a:r>
            <a:r>
              <a:rPr xmlns:mc="http://schemas.openxmlformats.org/markup-compatibility/2006" xmlns:hp="http://schemas.haansoft.com/office/presentation/8.0" kumimoji="0" lang="ko-KR" altLang="en-US" sz="2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팀</a:t>
            </a:r>
            <a:endParaRPr xmlns:mc="http://schemas.openxmlformats.org/markup-compatibility/2006" xmlns:hp="http://schemas.haansoft.com/office/presentation/8.0" kumimoji="0" lang="ko-KR" altLang="en-US" sz="2400" b="1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 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팀 구성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클라이언트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1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명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서버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1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명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그래픽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1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명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 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팀 내 역할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클라이언트 개발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 </a:t>
            </a:r>
            <a:r>
              <a:rPr xmlns:mc="http://schemas.openxmlformats.org/markup-compatibility/2006" xmlns:hp="http://schemas.haansoft.com/office/presentation/8.0" kumimoji="0" lang="ko-KR" altLang="en-US" sz="2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클라이언트 주요작업</a:t>
            </a:r>
            <a:endParaRPr xmlns:mc="http://schemas.openxmlformats.org/markup-compatibility/2006" xmlns:hp="http://schemas.haansoft.com/office/presentation/8.0" kumimoji="0" lang="ko-KR" altLang="en-US" sz="2400" b="1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 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클라이언트 행동에 따른 패킷 송신 및 수신 패킷 처리 로직 구현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 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플레이어 이동 동기화 처리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 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캐릭터 클래스 구조를 설계하고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각 캐릭터 특성에 맞는 기능을 가지도록 모듈화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 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캐릭터 전투시스템 구현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 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아이템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인벤토리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상점 시스템 구현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 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UI 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구현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(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인벤토리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상점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퀘스트 등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)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 </a:t>
            </a:r>
            <a:r>
              <a:rPr xmlns:mc="http://schemas.openxmlformats.org/markup-compatibility/2006" xmlns:hp="http://schemas.haansoft.com/office/presentation/8.0" kumimoji="0" lang="ko-KR" altLang="en-US" sz="2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작업물</a:t>
            </a:r>
            <a:endParaRPr xmlns:mc="http://schemas.openxmlformats.org/markup-compatibility/2006" xmlns:hp="http://schemas.haansoft.com/office/presentation/8.0" kumimoji="0" lang="ko-KR" altLang="en-US" sz="2400" b="1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b="1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 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소스코드 및 팁 작업일지 깃허브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  <a:hlinkClick r:id="rId7"/>
              </a:rPr>
              <a:t>https://github.com/sungone/GP2025</a:t>
            </a:r>
            <a:br>
              <a: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</a:br>
            <a:r>
              <a: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 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유튜브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  <a:hlinkClick r:id="rId8"/>
              </a:rPr>
              <a:t>https://www.youtube.com/watch?v=NkqPZXgjn8c&amp;ab_channel=%EB%B9%B5%EA%B5%AC</a:t>
            </a:r>
            <a:endPara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</p:txBody>
      </p:sp>
      <p:pic>
        <p:nvPicPr>
          <p:cNvPr id="27" name=""/>
          <p:cNvPicPr>
            <a:picLocks noChangeAspect="1"/>
          </p:cNvPicPr>
          <p:nvPr/>
        </p:nvPicPr>
        <p:blipFill rotWithShape="1">
          <a:blip r:embed="rId9">
            <a:lum/>
          </a:blip>
          <a:stretch>
            <a:fillRect/>
          </a:stretch>
        </p:blipFill>
        <p:spPr>
          <a:xfrm>
            <a:off x="10343192" y="3467100"/>
            <a:ext cx="6497007" cy="38126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181238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06400" y="520700"/>
            <a:ext cx="17475200" cy="9245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81000" y="495300"/>
            <a:ext cx="17513300" cy="9283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81100" y="8851900"/>
            <a:ext cx="159258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81100" y="1422400"/>
            <a:ext cx="159258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181100" y="2590800"/>
            <a:ext cx="15925800" cy="127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130300" y="1625600"/>
            <a:ext cx="16002000" cy="685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defRPr/>
            </a:pPr>
            <a:r>
              <a:rPr lang="ko-KR" altLang="en-US" sz="3800" b="0" i="0" u="none" strike="noStrike">
                <a:solidFill>
                  <a:srgbClr val="000000"/>
                </a:solidFill>
                <a:ea typeface="Pretendard SemiBold"/>
              </a:rPr>
              <a:t>티유월드</a:t>
            </a:r>
            <a:endParaRPr lang="ko-KR" altLang="en-US" sz="3800" b="0" i="0" u="none" strike="noStrike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6713200" y="1625600"/>
            <a:ext cx="381000" cy="266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r">
              <a:lnSpc>
                <a:spcPct val="116199"/>
              </a:lnSpc>
              <a:defRPr/>
            </a:pPr>
            <a:r>
              <a:rPr lang="en-US" sz="1500" b="0" i="0" u="none" strike="noStrike">
                <a:solidFill>
                  <a:srgbClr val="000000"/>
                </a:solidFill>
                <a:latin typeface="Pretendard Bold"/>
              </a:rPr>
              <a:t>0</a:t>
            </a:r>
            <a:r>
              <a:rPr lang="en-US" altLang="ko-KR" sz="1500" b="0" i="0" u="none" strike="noStrike">
                <a:solidFill>
                  <a:srgbClr val="000000"/>
                </a:solidFill>
                <a:latin typeface="Pretendard Bold"/>
              </a:rPr>
              <a:t>1</a:t>
            </a:r>
            <a:endParaRPr lang="en-US" altLang="ko-KR" sz="1500" b="0" i="0" u="none" strike="noStrike">
              <a:solidFill>
                <a:srgbClr val="000000"/>
              </a:solidFill>
              <a:latin typeface="Pretendard Bold"/>
            </a:endParaRPr>
          </a:p>
        </p:txBody>
      </p:sp>
      <p:sp>
        <p:nvSpPr>
          <p:cNvPr id="12" name="TextBox 23"/>
          <p:cNvSpPr txBox="1"/>
          <p:nvPr/>
        </p:nvSpPr>
        <p:spPr>
          <a:xfrm>
            <a:off x="1219200" y="4305300"/>
            <a:ext cx="10058400" cy="1676400"/>
          </a:xfrm>
          <a:prstGeom prst="rect">
            <a:avLst/>
          </a:prstGeom>
        </p:spPr>
        <p:txBody>
          <a:bodyPr lIns="0" tIns="0" rIns="0" bIns="0" anchor="ctr"/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클라이언트 행동에 따른 패킷 송신 및 수신 패킷 처리 로직 구현 </a:t>
            </a:r>
            <a:r>
              <a: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1</a:t>
            </a: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.</a:t>
            </a: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패킷 송신</a:t>
            </a: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플레이어가 움직이거나 공격을 실행했을 때 현재 캐릭터의 방향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위치 정보를 해당 행동에 맞는 패킷 구조체에 담아 서버로 전송했습니다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.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서버는 이 데이터를 기반으로 실제 판정을 처리하고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결과를 다시 클라이언트에 전달하여 모든 클라이언트 간 상태를 동기화합니다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.</a:t>
            </a: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이를 위해 각 행동에 맞는 패킷 구조를 정의하고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송신 로직을 구현했습니다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.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</p:txBody>
      </p:sp>
      <p:pic>
        <p:nvPicPr>
          <p:cNvPr id="16" name="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1506200" y="2673672"/>
            <a:ext cx="5587730" cy="6051228"/>
          </a:xfrm>
          <a:prstGeom prst="rect">
            <a:avLst/>
          </a:prstGeom>
        </p:spPr>
      </p:pic>
      <p:pic>
        <p:nvPicPr>
          <p:cNvPr id="17" name="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4191000" y="6134100"/>
            <a:ext cx="7196748" cy="2607744"/>
          </a:xfrm>
          <a:prstGeom prst="rect">
            <a:avLst/>
          </a:prstGeom>
        </p:spPr>
      </p:pic>
      <p:sp>
        <p:nvSpPr>
          <p:cNvPr id="18" name=""/>
          <p:cNvSpPr txBox="1"/>
          <p:nvPr/>
        </p:nvSpPr>
        <p:spPr>
          <a:xfrm>
            <a:off x="1143000" y="9029700"/>
            <a:ext cx="15925800" cy="474345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전체 코드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hlinkClick r:id="rId9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hlinkClick r:id="rId9"/>
              </a:rPr>
              <a:t>https://github.com/sungone/GP2025/blob/main/Source/GP2025/Network/GPNetworkManager.h</a:t>
            </a:r>
            <a:endPara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9367266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06400" y="520700"/>
            <a:ext cx="17475200" cy="9245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81000" y="495300"/>
            <a:ext cx="17513300" cy="9283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81100" y="8851900"/>
            <a:ext cx="159258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81100" y="1422400"/>
            <a:ext cx="159258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181100" y="2590800"/>
            <a:ext cx="15925800" cy="127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130300" y="1625600"/>
            <a:ext cx="16002000" cy="685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defRPr/>
            </a:pPr>
            <a:r>
              <a:rPr lang="ko-KR" altLang="en-US" sz="3800" b="0" i="0" u="none" strike="noStrike">
                <a:solidFill>
                  <a:srgbClr val="000000"/>
                </a:solidFill>
                <a:ea typeface="Pretendard SemiBold"/>
              </a:rPr>
              <a:t>티유월드</a:t>
            </a:r>
            <a:endParaRPr lang="ko-KR" altLang="en-US" sz="3800" b="0" i="0" u="none" strike="noStrike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6713200" y="1625600"/>
            <a:ext cx="381000" cy="266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r">
              <a:lnSpc>
                <a:spcPct val="116199"/>
              </a:lnSpc>
              <a:defRPr/>
            </a:pPr>
            <a:r>
              <a:rPr lang="en-US" sz="1500" b="0" i="0" u="none" strike="noStrike">
                <a:solidFill>
                  <a:srgbClr val="000000"/>
                </a:solidFill>
                <a:latin typeface="Pretendard Bold"/>
              </a:rPr>
              <a:t>0</a:t>
            </a:r>
            <a:r>
              <a:rPr lang="en-US" altLang="ko-KR" sz="1500" b="0" i="0" u="none" strike="noStrike">
                <a:solidFill>
                  <a:srgbClr val="000000"/>
                </a:solidFill>
                <a:latin typeface="Pretendard Bold"/>
              </a:rPr>
              <a:t>1</a:t>
            </a:r>
            <a:endParaRPr lang="en-US" altLang="ko-KR" sz="1500" b="0" i="0" u="none" strike="noStrike">
              <a:solidFill>
                <a:srgbClr val="000000"/>
              </a:solidFill>
              <a:latin typeface="Pretendard Bold"/>
            </a:endParaRPr>
          </a:p>
        </p:txBody>
      </p:sp>
      <p:sp>
        <p:nvSpPr>
          <p:cNvPr id="12" name="TextBox 23"/>
          <p:cNvSpPr txBox="1"/>
          <p:nvPr/>
        </p:nvSpPr>
        <p:spPr>
          <a:xfrm>
            <a:off x="1219200" y="3771900"/>
            <a:ext cx="10058400" cy="2209800"/>
          </a:xfrm>
          <a:prstGeom prst="rect">
            <a:avLst/>
          </a:prstGeom>
        </p:spPr>
        <p:txBody>
          <a:bodyPr lIns="0" tIns="0" rIns="0" bIns="0" anchor="ctr"/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클라이언트 행동에 따른 패킷 송신 및 수신 패킷 처리 로직 구현 </a:t>
            </a:r>
            <a:r>
              <a: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2</a:t>
            </a: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.</a:t>
            </a: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수신 패킷 분기 처리</a:t>
            </a: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서버에서 전달받은 패킷 데이터를 큐에서 꺼내고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패킷 헤더를 해석하여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EPacketType 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에 따라 분기 처리하는 로직을 구현했습니다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.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1143000" y="9029700"/>
            <a:ext cx="15925800" cy="474345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전체 코드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hlinkClick r:id="rId7"/>
              </a:rPr>
              <a:t>https://github.com/sungone/GP2025/blob/main/Source/GP2025/Network/GPNetworkManager.cpp</a:t>
            </a:r>
            <a:endPara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  <p:pic>
        <p:nvPicPr>
          <p:cNvPr id="20" name="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2573000" y="2730211"/>
            <a:ext cx="4419600" cy="5918488"/>
          </a:xfrm>
          <a:prstGeom prst="rect">
            <a:avLst/>
          </a:prstGeom>
        </p:spPr>
      </p:pic>
      <p:pic>
        <p:nvPicPr>
          <p:cNvPr id="21" name="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4966523" y="5753100"/>
            <a:ext cx="7454076" cy="2895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1970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06400" y="520700"/>
            <a:ext cx="17475200" cy="9245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81000" y="495300"/>
            <a:ext cx="17513300" cy="9283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81100" y="8851900"/>
            <a:ext cx="159258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81100" y="1422400"/>
            <a:ext cx="159258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181100" y="2590800"/>
            <a:ext cx="15925800" cy="127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130300" y="1625600"/>
            <a:ext cx="16002000" cy="685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defRPr/>
            </a:pPr>
            <a:r>
              <a:rPr lang="ko-KR" altLang="en-US" sz="3800" b="0" i="0" u="none" strike="noStrike">
                <a:solidFill>
                  <a:srgbClr val="000000"/>
                </a:solidFill>
                <a:ea typeface="Pretendard SemiBold"/>
              </a:rPr>
              <a:t>티유월드</a:t>
            </a:r>
            <a:endParaRPr lang="ko-KR" altLang="en-US" sz="3800" b="0" i="0" u="none" strike="noStrike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6713200" y="1625600"/>
            <a:ext cx="381000" cy="266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r">
              <a:lnSpc>
                <a:spcPct val="116199"/>
              </a:lnSpc>
              <a:defRPr/>
            </a:pPr>
            <a:r>
              <a:rPr lang="en-US" sz="1500" b="0" i="0" u="none" strike="noStrike">
                <a:solidFill>
                  <a:srgbClr val="000000"/>
                </a:solidFill>
                <a:latin typeface="Pretendard Bold"/>
              </a:rPr>
              <a:t>0</a:t>
            </a:r>
            <a:r>
              <a:rPr lang="en-US" altLang="ko-KR" sz="1500" b="0" i="0" u="none" strike="noStrike">
                <a:solidFill>
                  <a:srgbClr val="000000"/>
                </a:solidFill>
                <a:latin typeface="Pretendard Bold"/>
              </a:rPr>
              <a:t>1</a:t>
            </a:r>
            <a:endParaRPr lang="en-US" altLang="ko-KR" sz="1500" b="0" i="0" u="none" strike="noStrike">
              <a:solidFill>
                <a:srgbClr val="000000"/>
              </a:solidFill>
              <a:latin typeface="Pretendard Bold"/>
            </a:endParaRPr>
          </a:p>
        </p:txBody>
      </p:sp>
      <p:sp>
        <p:nvSpPr>
          <p:cNvPr id="12" name="TextBox 23"/>
          <p:cNvSpPr txBox="1"/>
          <p:nvPr/>
        </p:nvSpPr>
        <p:spPr>
          <a:xfrm>
            <a:off x="1219200" y="4076700"/>
            <a:ext cx="10058400" cy="1905000"/>
          </a:xfrm>
          <a:prstGeom prst="rect">
            <a:avLst/>
          </a:prstGeom>
        </p:spPr>
        <p:txBody>
          <a:bodyPr lIns="0" tIns="0" rIns="0" bIns="0" anchor="ctr"/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클라이언트 행동에 따른 패킷 송신 및 수신 패킷 처리 로직 구현 </a:t>
            </a:r>
            <a:r>
              <a: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3</a:t>
            </a: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.</a:t>
            </a: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수신 패킷 게임 반영</a:t>
            </a: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서버에서 수신한 패킷 데이터를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UGPObjectManager 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를 통해 게임 오브젝트에 반영하였습니다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.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게임 월드 내의 모든 플레이어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몬스터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아이템은 고유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ID 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와 객체 포인터로 매핑되어 관리되며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서버에서 전달된 상태 변화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(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이동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공격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체력 감소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아이템 스폰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친구 처리 등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)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를 해당 오브젝트에 동기화하도록 구현했습니다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.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1143000" y="9029700"/>
            <a:ext cx="15925800" cy="474345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전체 코드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hlinkClick r:id="rId7"/>
              </a:rPr>
              <a:t>https://github.com/sungone/GP2025/blob/main/Source/GP2025/Network/GPObjectManager.h</a:t>
            </a:r>
            <a:endPara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  <p:pic>
        <p:nvPicPr>
          <p:cNvPr id="22" name="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1353800" y="2781300"/>
            <a:ext cx="6023053" cy="5791199"/>
          </a:xfrm>
          <a:prstGeom prst="rect">
            <a:avLst/>
          </a:prstGeom>
        </p:spPr>
      </p:pic>
      <p:pic>
        <p:nvPicPr>
          <p:cNvPr id="24" name="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5029200" y="6694941"/>
            <a:ext cx="6201449" cy="1877559"/>
          </a:xfrm>
          <a:prstGeom prst="rect">
            <a:avLst/>
          </a:prstGeom>
        </p:spPr>
      </p:pic>
      <p:pic>
        <p:nvPicPr>
          <p:cNvPr id="25" name="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1138444" y="5600700"/>
            <a:ext cx="3738356" cy="2995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8495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06400" y="520700"/>
            <a:ext cx="17475200" cy="9245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81000" y="495300"/>
            <a:ext cx="17513300" cy="9283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81100" y="8851900"/>
            <a:ext cx="159258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81100" y="1422400"/>
            <a:ext cx="159258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181100" y="2590800"/>
            <a:ext cx="15925800" cy="127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130300" y="1625600"/>
            <a:ext cx="16002000" cy="685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defRPr/>
            </a:pPr>
            <a:r>
              <a:rPr lang="ko-KR" altLang="en-US" sz="3800" b="0" i="0" u="none" strike="noStrike">
                <a:solidFill>
                  <a:srgbClr val="000000"/>
                </a:solidFill>
                <a:ea typeface="Pretendard SemiBold"/>
              </a:rPr>
              <a:t>티유월드</a:t>
            </a:r>
            <a:endParaRPr lang="ko-KR" altLang="en-US" sz="3800" b="0" i="0" u="none" strike="noStrike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6713200" y="1625600"/>
            <a:ext cx="381000" cy="266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r">
              <a:lnSpc>
                <a:spcPct val="116199"/>
              </a:lnSpc>
              <a:defRPr/>
            </a:pPr>
            <a:r>
              <a:rPr lang="en-US" sz="1500" b="0" i="0" u="none" strike="noStrike">
                <a:solidFill>
                  <a:srgbClr val="000000"/>
                </a:solidFill>
                <a:latin typeface="Pretendard Bold"/>
              </a:rPr>
              <a:t>0</a:t>
            </a:r>
            <a:r>
              <a:rPr lang="en-US" altLang="ko-KR" sz="1500" b="0" i="0" u="none" strike="noStrike">
                <a:solidFill>
                  <a:srgbClr val="000000"/>
                </a:solidFill>
                <a:latin typeface="Pretendard Bold"/>
              </a:rPr>
              <a:t>1</a:t>
            </a:r>
            <a:endParaRPr lang="en-US" altLang="ko-KR" sz="1500" b="0" i="0" u="none" strike="noStrike">
              <a:solidFill>
                <a:srgbClr val="000000"/>
              </a:solidFill>
              <a:latin typeface="Pretendard Bold"/>
            </a:endParaRPr>
          </a:p>
        </p:txBody>
      </p:sp>
      <p:sp>
        <p:nvSpPr>
          <p:cNvPr id="12" name="TextBox 23"/>
          <p:cNvSpPr txBox="1"/>
          <p:nvPr/>
        </p:nvSpPr>
        <p:spPr>
          <a:xfrm>
            <a:off x="1219200" y="4076700"/>
            <a:ext cx="6781800" cy="3962400"/>
          </a:xfrm>
          <a:prstGeom prst="rect">
            <a:avLst/>
          </a:prstGeom>
        </p:spPr>
        <p:txBody>
          <a:bodyPr lIns="0" tIns="0" rIns="0" bIns="0" anchor="ctr"/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1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플레이어 이동 동기화 처리</a:t>
            </a:r>
            <a:r>
              <a:rPr xmlns:mc="http://schemas.openxmlformats.org/markup-compatibility/2006" xmlns:hp="http://schemas.haansoft.com/office/presentation/8.0" kumimoji="0" lang="en-US" altLang="ko-KR" b="1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- 1</a:t>
            </a:r>
            <a:endParaRPr xmlns:mc="http://schemas.openxmlformats.org/markup-compatibility/2006" xmlns:hp="http://schemas.haansoft.com/office/presentation/8.0" kumimoji="0" lang="en-US" altLang="ko-KR" b="1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내 클라이언트가 움직일 때 게임 상에 존재하는 모든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클라이언트들과 동기화 하기 위해 서버로 위치 패킷을 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전달하는 GPMyplayerNetworkSyncHandler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모듈을 만들었습니다. 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서버의 Overhead 를 고려하여 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위치 업데이트가 꼭 필요한 상황해서만 패킷을 보내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도록 코드를 구현하였습니다. 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1143000" y="9029700"/>
            <a:ext cx="15925800" cy="474345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전체 코드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hlinkClick r:id="rId7"/>
              </a:rPr>
              <a:t>https://github.com/sungone/GP2025/blob/main/Source/GP2025/Character/Modules/GPMyplayerNetworkSyncHandler.cpp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 </a:t>
            </a:r>
            <a:endPara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0266193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06400" y="520700"/>
            <a:ext cx="17475200" cy="9245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81000" y="495300"/>
            <a:ext cx="17513300" cy="9283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81100" y="8851900"/>
            <a:ext cx="159258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81100" y="1422400"/>
            <a:ext cx="159258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181100" y="2590800"/>
            <a:ext cx="15925800" cy="127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130300" y="1625600"/>
            <a:ext cx="16002000" cy="685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defRPr/>
            </a:pPr>
            <a:r>
              <a:rPr lang="ko-KR" altLang="en-US" sz="3800" b="0" i="0" u="none" strike="noStrike">
                <a:solidFill>
                  <a:srgbClr val="000000"/>
                </a:solidFill>
                <a:ea typeface="Pretendard SemiBold"/>
              </a:rPr>
              <a:t>티유월드</a:t>
            </a:r>
            <a:endParaRPr lang="ko-KR" altLang="en-US" sz="3800" b="0" i="0" u="none" strike="noStrike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6713200" y="1625600"/>
            <a:ext cx="381000" cy="266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r">
              <a:lnSpc>
                <a:spcPct val="116199"/>
              </a:lnSpc>
              <a:defRPr/>
            </a:pPr>
            <a:r>
              <a:rPr lang="en-US" sz="1500" b="0" i="0" u="none" strike="noStrike">
                <a:solidFill>
                  <a:srgbClr val="000000"/>
                </a:solidFill>
                <a:latin typeface="Pretendard Bold"/>
              </a:rPr>
              <a:t>0</a:t>
            </a:r>
            <a:r>
              <a:rPr lang="en-US" altLang="ko-KR" sz="1500" b="0" i="0" u="none" strike="noStrike">
                <a:solidFill>
                  <a:srgbClr val="000000"/>
                </a:solidFill>
                <a:latin typeface="Pretendard Bold"/>
              </a:rPr>
              <a:t>1</a:t>
            </a:r>
            <a:endParaRPr lang="en-US" altLang="ko-KR" sz="1500" b="0" i="0" u="none" strike="noStrike">
              <a:solidFill>
                <a:srgbClr val="000000"/>
              </a:solidFill>
              <a:latin typeface="Pretendard Bold"/>
            </a:endParaRPr>
          </a:p>
        </p:txBody>
      </p:sp>
      <p:sp>
        <p:nvSpPr>
          <p:cNvPr id="12" name="TextBox 23"/>
          <p:cNvSpPr txBox="1"/>
          <p:nvPr/>
        </p:nvSpPr>
        <p:spPr>
          <a:xfrm>
            <a:off x="1219200" y="4076700"/>
            <a:ext cx="10058400" cy="3810000"/>
          </a:xfrm>
          <a:prstGeom prst="rect">
            <a:avLst/>
          </a:prstGeom>
        </p:spPr>
        <p:txBody>
          <a:bodyPr lIns="0" tIns="0" rIns="0" bIns="0" anchor="ctr"/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캐릭터 클래스 구조를 설계하고</a:t>
            </a:r>
            <a:r>
              <a:rPr xmlns:mc="http://schemas.openxmlformats.org/markup-compatibility/2006" xmlns:hp="http://schemas.haansoft.com/office/presentation/8.0" kumimoji="0" lang="en-US" altLang="ko-KR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각 캐릭터 특성에 맞는 기능을 가지도록 모듈화</a:t>
            </a: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MMORPG 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의 다양한 캐릭터가 공통적으로 가지는 기능은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AGPCharacterBase 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에서 정의하고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이를 상속받아 플레이어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몬스터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NPC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로 세분화하였습니다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.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로컬 플레이어의 입력 및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UI 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처리를 위해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AGPCharacterMyplayer 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클래스를 별도로 설계하였습니다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.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캐릭터 클래스 내부에 모든 기능을 직접 구현하지 않고 전투</a:t>
            </a:r>
            <a:r>
              <a: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스탯</a:t>
            </a:r>
            <a:r>
              <a: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UI </a:t>
            </a: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등 기능 단위를 모듈화하여 각 캐릭터 클래스가 필요한 모듈만 조합하도록 설계하였습니다</a:t>
            </a:r>
            <a:r>
              <a: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.</a:t>
            </a: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이를 통해 유지보수성과 확장성을 높이고</a:t>
            </a:r>
            <a:r>
              <a: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캐릭터별 특성을 잘 반영할 수 있도록 하였습니다</a:t>
            </a:r>
            <a:r>
              <a: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.</a:t>
            </a:r>
            <a:endPara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1143000" y="9029700"/>
            <a:ext cx="15925800" cy="474345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전체 코드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hlinkClick r:id="rId7"/>
              </a:rPr>
              <a:t>https://github.com/sungone/GP2025/tree/main/Source/GP2025/Character</a:t>
            </a:r>
            <a:endPara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  <p:pic>
        <p:nvPicPr>
          <p:cNvPr id="26" name="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2153899" y="2815530"/>
            <a:ext cx="4762500" cy="5756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9250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06400" y="520700"/>
            <a:ext cx="17475200" cy="9245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81000" y="495300"/>
            <a:ext cx="17513300" cy="9283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81100" y="8851900"/>
            <a:ext cx="159258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81100" y="1422400"/>
            <a:ext cx="159258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181100" y="2590800"/>
            <a:ext cx="15925800" cy="127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130300" y="1625600"/>
            <a:ext cx="16002000" cy="685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defRPr/>
            </a:pPr>
            <a:r>
              <a:rPr lang="ko-KR" altLang="en-US" sz="3800" b="0" i="0" u="none" strike="noStrike">
                <a:solidFill>
                  <a:srgbClr val="000000"/>
                </a:solidFill>
                <a:ea typeface="Pretendard SemiBold"/>
              </a:rPr>
              <a:t>티유월드</a:t>
            </a:r>
            <a:endParaRPr lang="ko-KR" altLang="en-US" sz="3800" b="0" i="0" u="none" strike="noStrike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6713200" y="1625600"/>
            <a:ext cx="381000" cy="266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r">
              <a:lnSpc>
                <a:spcPct val="116199"/>
              </a:lnSpc>
              <a:defRPr/>
            </a:pPr>
            <a:r>
              <a:rPr lang="en-US" sz="1500" b="0" i="0" u="none" strike="noStrike">
                <a:solidFill>
                  <a:srgbClr val="000000"/>
                </a:solidFill>
                <a:latin typeface="Pretendard Bold"/>
              </a:rPr>
              <a:t>0</a:t>
            </a:r>
            <a:r>
              <a:rPr lang="en-US" altLang="ko-KR" sz="1500" b="0" i="0" u="none" strike="noStrike">
                <a:solidFill>
                  <a:srgbClr val="000000"/>
                </a:solidFill>
                <a:latin typeface="Pretendard Bold"/>
              </a:rPr>
              <a:t>1</a:t>
            </a:r>
            <a:endParaRPr lang="en-US" altLang="ko-KR" sz="1500" b="0" i="0" u="none" strike="noStrike">
              <a:solidFill>
                <a:srgbClr val="000000"/>
              </a:solidFill>
              <a:latin typeface="Pretendard Bold"/>
            </a:endParaRPr>
          </a:p>
        </p:txBody>
      </p:sp>
      <p:sp>
        <p:nvSpPr>
          <p:cNvPr id="12" name="TextBox 23"/>
          <p:cNvSpPr txBox="1"/>
          <p:nvPr/>
        </p:nvSpPr>
        <p:spPr>
          <a:xfrm>
            <a:off x="1219200" y="3238500"/>
            <a:ext cx="10058400" cy="2819400"/>
          </a:xfrm>
          <a:prstGeom prst="rect">
            <a:avLst/>
          </a:prstGeom>
        </p:spPr>
        <p:txBody>
          <a:bodyPr lIns="0" tIns="0" rIns="0" bIns="0" anchor="ctr"/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1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캐릭터 전투시스템 구현</a:t>
            </a:r>
            <a:endParaRPr xmlns:mc="http://schemas.openxmlformats.org/markup-compatibility/2006" xmlns:hp="http://schemas.haansoft.com/office/presentation/8.0" kumimoji="0" lang="ko-KR" altLang="en-US" b="1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UGPCharacterCombatHandler </a:t>
            </a: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모듈을 통해 </a:t>
            </a:r>
            <a:r>
              <a: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MMORPG </a:t>
            </a: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캐릭터의 전투 시스템을 모듈화하여 구현했습니다</a:t>
            </a:r>
            <a:r>
              <a: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.</a:t>
            </a: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이 모듈은 기본 공격</a:t>
            </a:r>
            <a:r>
              <a: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스킬</a:t>
            </a:r>
            <a:r>
              <a: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피격</a:t>
            </a:r>
            <a:r>
              <a: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사망 처리와 관련된 애니메이션을 몽타주 단위로 관리하며</a:t>
            </a:r>
            <a:r>
              <a: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공격 속도 증가</a:t>
            </a:r>
            <a:r>
              <a: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돌진형 스킬</a:t>
            </a:r>
            <a:r>
              <a: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멀티 </a:t>
            </a:r>
            <a:r>
              <a: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Hit </a:t>
            </a: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스킬의 특성에 따른 전투 기능을 타이머와 상태 플래그로 제어해서 구현했습니다</a:t>
            </a:r>
            <a:r>
              <a: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.</a:t>
            </a: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또한 플레이어의 공격 상태를 정확히 추적하고 판단해서 서버 </a:t>
            </a:r>
            <a:r>
              <a: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클라이언트간 동기화가 원활히 이루어지도록 설계하였습니다</a:t>
            </a:r>
            <a:r>
              <a: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.</a:t>
            </a: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1143000" y="9029700"/>
            <a:ext cx="15925800" cy="474345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전체 코드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hlinkClick r:id="rId7"/>
              </a:rPr>
              <a:t>https://github.com/sungone/GP2025/blob/main/Source/GP2025/Character/Modules/GPCharacterCombatHandler.h</a:t>
            </a:r>
            <a:endPara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  <p:pic>
        <p:nvPicPr>
          <p:cNvPr id="28" name="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5877092" y="5600700"/>
            <a:ext cx="5705308" cy="3094055"/>
          </a:xfrm>
          <a:prstGeom prst="rect">
            <a:avLst/>
          </a:prstGeom>
        </p:spPr>
      </p:pic>
      <p:pic>
        <p:nvPicPr>
          <p:cNvPr id="29" name="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1658600" y="2933700"/>
            <a:ext cx="5532351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1433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06400" y="520700"/>
            <a:ext cx="17475200" cy="9245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81000" y="495300"/>
            <a:ext cx="17513300" cy="9283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81099" y="8102600"/>
            <a:ext cx="159258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81100" y="1422400"/>
            <a:ext cx="159258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181100" y="2590800"/>
            <a:ext cx="15925800" cy="127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130300" y="1625600"/>
            <a:ext cx="16002000" cy="685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defRPr/>
            </a:pPr>
            <a:r>
              <a:rPr lang="ko-KR" altLang="en-US" sz="3800" b="0" i="0" u="none" strike="noStrike">
                <a:solidFill>
                  <a:srgbClr val="000000"/>
                </a:solidFill>
                <a:ea typeface="Pretendard SemiBold"/>
              </a:rPr>
              <a:t>티유월드</a:t>
            </a:r>
            <a:endParaRPr lang="ko-KR" altLang="en-US" sz="3800" b="0" i="0" u="none" strike="noStrike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6713200" y="1625600"/>
            <a:ext cx="381000" cy="266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r">
              <a:lnSpc>
                <a:spcPct val="116199"/>
              </a:lnSpc>
              <a:defRPr/>
            </a:pPr>
            <a:r>
              <a:rPr lang="en-US" sz="1500" b="0" i="0" u="none" strike="noStrike">
                <a:solidFill>
                  <a:srgbClr val="000000"/>
                </a:solidFill>
                <a:latin typeface="Pretendard Bold"/>
              </a:rPr>
              <a:t>0</a:t>
            </a:r>
            <a:r>
              <a:rPr lang="en-US" altLang="ko-KR" sz="1500" b="0" i="0" u="none" strike="noStrike">
                <a:solidFill>
                  <a:srgbClr val="000000"/>
                </a:solidFill>
                <a:latin typeface="Pretendard Bold"/>
              </a:rPr>
              <a:t>1</a:t>
            </a:r>
            <a:endParaRPr lang="en-US" altLang="ko-KR" sz="1500" b="0" i="0" u="none" strike="noStrike">
              <a:solidFill>
                <a:srgbClr val="000000"/>
              </a:solidFill>
              <a:latin typeface="Pretendard Bold"/>
            </a:endParaRPr>
          </a:p>
        </p:txBody>
      </p:sp>
      <p:sp>
        <p:nvSpPr>
          <p:cNvPr id="12" name="TextBox 23"/>
          <p:cNvSpPr txBox="1"/>
          <p:nvPr/>
        </p:nvSpPr>
        <p:spPr>
          <a:xfrm>
            <a:off x="1219200" y="3848100"/>
            <a:ext cx="9525000" cy="4038600"/>
          </a:xfrm>
          <a:prstGeom prst="rect">
            <a:avLst/>
          </a:prstGeom>
        </p:spPr>
        <p:txBody>
          <a:bodyPr lIns="0" tIns="0" rIns="0" bIns="0" anchor="ctr"/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아이템</a:t>
            </a:r>
            <a:r>
              <a:rPr xmlns:mc="http://schemas.openxmlformats.org/markup-compatibility/2006" xmlns:hp="http://schemas.haansoft.com/office/presentation/8.0" kumimoji="0" lang="en-US" altLang="ko-KR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인벤토리</a:t>
            </a:r>
            <a:r>
              <a:rPr xmlns:mc="http://schemas.openxmlformats.org/markup-compatibility/2006" xmlns:hp="http://schemas.haansoft.com/office/presentation/8.0" kumimoji="0" lang="en-US" altLang="ko-KR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상점 시스템 구현</a:t>
            </a:r>
            <a:endParaRPr xmlns:mc="http://schemas.openxmlformats.org/markup-compatibility/2006" xmlns:hp="http://schemas.haansoft.com/office/presentation/8.0" kumimoji="0" lang="ko-KR" altLang="en-US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아이템 데이터는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GPItemTable 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을 활용해 관리하여 손쉽게 아이템의 확장과 수정을 가능하게 했습니다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.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endPara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ItemSlot 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클래스를 인벤토리와 상점 양쪽에서 공통적으로 사용하도록 구조화하여 코드의 일관성과 재사용성을 높였습니다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.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endPara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또한</a:t>
            </a:r>
            <a:r>
              <a: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인벤토리와 상점에서 공통적으로 활용할 수 있는 기능들은 별도로 모듈화하여 중복 코드를 최소화하고</a:t>
            </a:r>
            <a:r>
              <a: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이를 통해 유지보수성과 확장성을 고려한 시스템을 구축했습니다</a:t>
            </a:r>
            <a:r>
              <a: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.</a:t>
            </a: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1181100" y="8267700"/>
            <a:ext cx="15925800" cy="1636395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아이템 코드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hlinkClick r:id="rId7"/>
              </a:rPr>
              <a:t>https://github.com/sungone/GP2025/tree/main/Source/GP2025/Item</a:t>
            </a:r>
            <a:endPara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인벤토리 코드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hlinkClick r:id="rId8"/>
              </a:rPr>
              <a:t>https://github.com/sungone/GP2025/tree/main/Source/GP2025/Inventory</a:t>
            </a:r>
            <a:endPara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상점 코드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hlinkClick r:id="rId9"/>
              </a:rPr>
              <a:t>https://github.com/sungone/GP2025/tree/main/Source/GP2025/Shop</a:t>
            </a:r>
            <a:endPara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  <p:pic>
        <p:nvPicPr>
          <p:cNvPr id="19" name="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10744200" y="2842310"/>
            <a:ext cx="6172200" cy="5044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787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06400" y="520700"/>
            <a:ext cx="17475200" cy="9245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81000" y="495300"/>
            <a:ext cx="17513300" cy="9283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81100" y="8851900"/>
            <a:ext cx="159258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81100" y="1422400"/>
            <a:ext cx="159258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181100" y="2590800"/>
            <a:ext cx="15925800" cy="127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130300" y="1625600"/>
            <a:ext cx="16002000" cy="685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defRPr/>
            </a:pPr>
            <a:r>
              <a:rPr lang="ko-KR" altLang="en-US" sz="3800" b="0" i="0" u="none" strike="noStrike">
                <a:solidFill>
                  <a:srgbClr val="000000"/>
                </a:solidFill>
                <a:ea typeface="Pretendard SemiBold"/>
              </a:rPr>
              <a:t>티유월드</a:t>
            </a:r>
            <a:endParaRPr lang="ko-KR" altLang="en-US" sz="3800" b="0" i="0" u="none" strike="noStrike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6713200" y="1625600"/>
            <a:ext cx="381000" cy="266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r">
              <a:lnSpc>
                <a:spcPct val="116199"/>
              </a:lnSpc>
              <a:defRPr/>
            </a:pPr>
            <a:r>
              <a:rPr lang="en-US" sz="1500" b="0" i="0" u="none" strike="noStrike">
                <a:solidFill>
                  <a:srgbClr val="000000"/>
                </a:solidFill>
                <a:latin typeface="Pretendard Bold"/>
              </a:rPr>
              <a:t>0</a:t>
            </a:r>
            <a:r>
              <a:rPr lang="en-US" altLang="ko-KR" sz="1500" b="0" i="0" u="none" strike="noStrike">
                <a:solidFill>
                  <a:srgbClr val="000000"/>
                </a:solidFill>
                <a:latin typeface="Pretendard Bold"/>
              </a:rPr>
              <a:t>1</a:t>
            </a:r>
            <a:endParaRPr lang="en-US" altLang="ko-KR" sz="1500" b="0" i="0" u="none" strike="noStrike">
              <a:solidFill>
                <a:srgbClr val="000000"/>
              </a:solidFill>
              <a:latin typeface="Pretendard Bold"/>
            </a:endParaRPr>
          </a:p>
        </p:txBody>
      </p:sp>
      <p:sp>
        <p:nvSpPr>
          <p:cNvPr id="12" name="TextBox 23"/>
          <p:cNvSpPr txBox="1"/>
          <p:nvPr/>
        </p:nvSpPr>
        <p:spPr>
          <a:xfrm>
            <a:off x="1219200" y="3733800"/>
            <a:ext cx="10058400" cy="2819400"/>
          </a:xfrm>
          <a:prstGeom prst="rect">
            <a:avLst/>
          </a:prstGeom>
        </p:spPr>
        <p:txBody>
          <a:bodyPr lIns="0" tIns="0" rIns="0" bIns="0" anchor="ctr"/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b="1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UI </a:t>
            </a:r>
            <a:r>
              <a:rPr xmlns:mc="http://schemas.openxmlformats.org/markup-compatibility/2006" xmlns:hp="http://schemas.haansoft.com/office/presentation/8.0" kumimoji="0" lang="ko-KR" altLang="en-US" b="1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구현 </a:t>
            </a:r>
            <a:r>
              <a:rPr xmlns:mc="http://schemas.openxmlformats.org/markup-compatibility/2006" xmlns:hp="http://schemas.haansoft.com/office/presentation/8.0" kumimoji="0" lang="en-US" altLang="ko-KR" b="1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(</a:t>
            </a:r>
            <a:r>
              <a:rPr xmlns:mc="http://schemas.openxmlformats.org/markup-compatibility/2006" xmlns:hp="http://schemas.haansoft.com/office/presentation/8.0" kumimoji="0" lang="ko-KR" altLang="en-US" b="1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인벤토리 </a:t>
            </a:r>
            <a:r>
              <a:rPr xmlns:mc="http://schemas.openxmlformats.org/markup-compatibility/2006" xmlns:hp="http://schemas.haansoft.com/office/presentation/8.0" kumimoji="0" lang="en-US" altLang="ko-KR" b="1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b="1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상점 </a:t>
            </a:r>
            <a:r>
              <a:rPr xmlns:mc="http://schemas.openxmlformats.org/markup-compatibility/2006" xmlns:hp="http://schemas.haansoft.com/office/presentation/8.0" kumimoji="0" lang="en-US" altLang="ko-KR" b="1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b="1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퀘스트 등</a:t>
            </a:r>
            <a:r>
              <a:rPr xmlns:mc="http://schemas.openxmlformats.org/markup-compatibility/2006" xmlns:hp="http://schemas.haansoft.com/office/presentation/8.0" kumimoji="0" lang="en-US" altLang="ko-KR" b="1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)</a:t>
            </a:r>
            <a:endParaRPr xmlns:mc="http://schemas.openxmlformats.org/markup-compatibility/2006" xmlns:hp="http://schemas.haansoft.com/office/presentation/8.0" kumimoji="0" lang="ko-KR" altLang="en-US" b="1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로그인, 로비, 인게임 UI 전반을 설계</a:t>
            </a: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구현하였습니다. 로그인 UI에서 계정 접속을 처리하고, 로비 UI에서 캐릭터 선택과 진입 과정을 거쳐, 인게임 UI에서는 채널 선택, 캐릭터 상태, 채팅, 퀘스트, NPC 상호작용, 인벤토리, 상점, 친구 목록 등 다양한 기능을 모듈화된 위젯 형태로</a:t>
            </a: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구현했습니다</a:t>
            </a:r>
            <a:r>
              <a: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. 이를 통해 각 UI가 독립적으로 동작하면서도 유기적으로 연결되도록 구조화하여, 확장성과 유지보수성을 고려한 UI 시스템을 구축하였습니다.</a:t>
            </a:r>
            <a:endPara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1143000" y="9029700"/>
            <a:ext cx="15925800" cy="474345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UI 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코드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hlinkClick r:id="rId7"/>
              </a:rPr>
              <a:t>https://github.com/sungone/GP2025/tree/main/Source/GP2025/UI</a:t>
            </a:r>
            <a:endPara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  <p:pic>
        <p:nvPicPr>
          <p:cNvPr id="30" name="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3639800" y="2908803"/>
            <a:ext cx="2044700" cy="5587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8427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06400" y="520700"/>
            <a:ext cx="17475200" cy="9245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81000" y="495300"/>
            <a:ext cx="17513300" cy="9283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81100" y="8851900"/>
            <a:ext cx="159258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81100" y="1422400"/>
            <a:ext cx="159258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181100" y="2590800"/>
            <a:ext cx="15925800" cy="127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130300" y="1625600"/>
            <a:ext cx="16002000" cy="685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defRPr/>
            </a:pPr>
            <a:r>
              <a:rPr lang="en-US" altLang="ko-KR" sz="3800" b="0" i="0" u="none" strike="noStrike">
                <a:solidFill>
                  <a:srgbClr val="000000"/>
                </a:solidFill>
                <a:ea typeface="Pretendard SemiBold"/>
              </a:rPr>
              <a:t>Unity Of Mind</a:t>
            </a:r>
            <a:endParaRPr lang="en-US" altLang="ko-KR" sz="3800" b="0" i="0" u="none" strike="noStrike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6713200" y="1625600"/>
            <a:ext cx="381000" cy="266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r">
              <a:lnSpc>
                <a:spcPct val="116199"/>
              </a:lnSpc>
              <a:defRPr/>
            </a:pPr>
            <a:r>
              <a:rPr lang="en-US" sz="1500" b="0" i="0" u="none" strike="noStrike">
                <a:solidFill>
                  <a:srgbClr val="000000"/>
                </a:solidFill>
                <a:latin typeface="Pretendard Bold"/>
              </a:rPr>
              <a:t>0</a:t>
            </a:r>
            <a:r>
              <a:rPr lang="en-US" altLang="ko-KR" sz="1500" b="0" i="0" u="none" strike="noStrike">
                <a:solidFill>
                  <a:srgbClr val="000000"/>
                </a:solidFill>
                <a:latin typeface="Pretendard Bold"/>
              </a:rPr>
              <a:t>2</a:t>
            </a:r>
            <a:endParaRPr lang="en-US" altLang="ko-KR" sz="1500" b="0" i="0" u="none" strike="noStrike">
              <a:solidFill>
                <a:srgbClr val="000000"/>
              </a:solidFill>
              <a:latin typeface="Pretendard Bold"/>
            </a:endParaRPr>
          </a:p>
        </p:txBody>
      </p:sp>
      <p:sp>
        <p:nvSpPr>
          <p:cNvPr id="12" name="TextBox 23"/>
          <p:cNvSpPr txBox="1"/>
          <p:nvPr/>
        </p:nvSpPr>
        <p:spPr>
          <a:xfrm>
            <a:off x="1219200" y="3314700"/>
            <a:ext cx="13716000" cy="5257800"/>
          </a:xfrm>
          <a:prstGeom prst="rect">
            <a:avLst/>
          </a:prstGeom>
        </p:spPr>
        <p:txBody>
          <a:bodyPr lIns="0" tIns="0" rIns="0" bIns="0" anchor="ctr"/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 </a:t>
            </a:r>
            <a:r>
              <a:rPr xmlns:mc="http://schemas.openxmlformats.org/markup-compatibility/2006" xmlns:hp="http://schemas.haansoft.com/office/presentation/8.0" kumimoji="0" lang="ko-KR" altLang="en-US" sz="2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팀</a:t>
            </a:r>
            <a:endParaRPr xmlns:mc="http://schemas.openxmlformats.org/markup-compatibility/2006" xmlns:hp="http://schemas.haansoft.com/office/presentation/8.0" kumimoji="0" lang="ko-KR" altLang="en-US" sz="2400" b="1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 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팀 구성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클라이언트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2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명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 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팀 내 역할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클라이언트 개발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 </a:t>
            </a:r>
            <a:r>
              <a:rPr xmlns:mc="http://schemas.openxmlformats.org/markup-compatibility/2006" xmlns:hp="http://schemas.haansoft.com/office/presentation/8.0" kumimoji="0" lang="ko-KR" altLang="en-US" sz="2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주요작업</a:t>
            </a:r>
            <a:endParaRPr xmlns:mc="http://schemas.openxmlformats.org/markup-compatibility/2006" xmlns:hp="http://schemas.haansoft.com/office/presentation/8.0" kumimoji="0" lang="ko-KR" altLang="en-US" sz="2400" b="1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게임 플레이 핵심 오브젝트 벽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캐릭터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큐브 설계를 클래스 단위로 구현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텍스처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색상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랜덤 패턴 등 렌더링 시스템 제작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파일 입출력을 통해 쉐이더를 로드하고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컴파일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링크 과정을 처리하는 쉐이더 관리 모듈 설계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 </a:t>
            </a:r>
            <a:r>
              <a:rPr xmlns:mc="http://schemas.openxmlformats.org/markup-compatibility/2006" xmlns:hp="http://schemas.haansoft.com/office/presentation/8.0" kumimoji="0" lang="ko-KR" altLang="en-US" sz="2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작업물</a:t>
            </a:r>
            <a:endParaRPr xmlns:mc="http://schemas.openxmlformats.org/markup-compatibility/2006" xmlns:hp="http://schemas.haansoft.com/office/presentation/8.0" kumimoji="0" lang="ko-KR" altLang="en-US" sz="2400" b="1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 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깃허브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  <a:hlinkClick r:id="rId7"/>
              </a:rPr>
              <a:t>https://github.com/sungone/Unity_Of_Mind</a:t>
            </a:r>
            <a:b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</a:b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 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유튜브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  <a:hlinkClick r:id="rId8"/>
              </a:rPr>
              <a:t>https://www.youtube.com/watch?v=9u4resCQxrY&amp;ab_channel=yoon%EC%9D%80%EC%A7%80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</p:txBody>
      </p:sp>
      <p:pic>
        <p:nvPicPr>
          <p:cNvPr id="13" name="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2192000" y="2904539"/>
            <a:ext cx="4648200" cy="4677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7175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06400" y="520700"/>
            <a:ext cx="17475200" cy="9245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81000" y="495300"/>
            <a:ext cx="17513300" cy="9283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81100" y="7581900"/>
            <a:ext cx="159258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81100" y="1422400"/>
            <a:ext cx="159258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181100" y="2590800"/>
            <a:ext cx="15925800" cy="127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130300" y="1625600"/>
            <a:ext cx="16002000" cy="685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defRPr/>
            </a:pPr>
            <a:r>
              <a:rPr lang="en-US" altLang="ko-KR" sz="3800" b="0" i="0" u="none" strike="noStrike">
                <a:solidFill>
                  <a:srgbClr val="000000"/>
                </a:solidFill>
                <a:ea typeface="Pretendard SemiBold"/>
              </a:rPr>
              <a:t>Unity Of Mind</a:t>
            </a:r>
            <a:endParaRPr lang="en-US" altLang="ko-KR" sz="3800" b="0" i="0" u="none" strike="noStrike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6713200" y="1625600"/>
            <a:ext cx="381000" cy="266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r">
              <a:lnSpc>
                <a:spcPct val="116199"/>
              </a:lnSpc>
              <a:defRPr/>
            </a:pPr>
            <a:r>
              <a:rPr lang="en-US" sz="1500" b="0" i="0" u="none" strike="noStrike">
                <a:solidFill>
                  <a:srgbClr val="000000"/>
                </a:solidFill>
                <a:latin typeface="Pretendard Bold"/>
              </a:rPr>
              <a:t>0</a:t>
            </a:r>
            <a:r>
              <a:rPr lang="en-US" altLang="ko-KR" sz="1500" b="0" i="0" u="none" strike="noStrike">
                <a:solidFill>
                  <a:srgbClr val="000000"/>
                </a:solidFill>
                <a:latin typeface="Pretendard Bold"/>
              </a:rPr>
              <a:t>2</a:t>
            </a:r>
            <a:endParaRPr lang="en-US" altLang="ko-KR" sz="1500" b="0" i="0" u="none" strike="noStrike">
              <a:solidFill>
                <a:srgbClr val="000000"/>
              </a:solidFill>
              <a:latin typeface="Pretendard Bold"/>
            </a:endParaRPr>
          </a:p>
        </p:txBody>
      </p:sp>
      <p:sp>
        <p:nvSpPr>
          <p:cNvPr id="12" name="TextBox 23"/>
          <p:cNvSpPr txBox="1"/>
          <p:nvPr/>
        </p:nvSpPr>
        <p:spPr>
          <a:xfrm>
            <a:off x="1219200" y="4152900"/>
            <a:ext cx="10058400" cy="2819400"/>
          </a:xfrm>
          <a:prstGeom prst="rect">
            <a:avLst/>
          </a:prstGeom>
        </p:spPr>
        <p:txBody>
          <a:bodyPr lIns="0" tIns="0" rIns="0" bIns="0" anchor="ctr"/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1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게임 플레이 핵심 오브젝트 벽 </a:t>
            </a:r>
            <a:r>
              <a:rPr xmlns:mc="http://schemas.openxmlformats.org/markup-compatibility/2006" xmlns:hp="http://schemas.haansoft.com/office/presentation/8.0" kumimoji="0" lang="en-US" altLang="ko-KR" b="1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b="1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캐릭터 </a:t>
            </a:r>
            <a:r>
              <a:rPr xmlns:mc="http://schemas.openxmlformats.org/markup-compatibility/2006" xmlns:hp="http://schemas.haansoft.com/office/presentation/8.0" kumimoji="0" lang="en-US" altLang="ko-KR" b="1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b="1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큐브 설계를 클래스 단위로 구현</a:t>
            </a: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게임의 핵심 오브젝트들을 Object 기반 클래스에서 상속받아 Cube, Wall, Player 등으로 구현하였다.</a:t>
            </a: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공통 속성과 기능은 Object에서 관리하고, 각 파생 클래스는 개별 동작을 오버라이드하도록 설계하였다.</a:t>
            </a: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이를 통해 코드 재사용성을 높이고, 확장성 있는 오브젝트 구조를 구축하였다</a:t>
            </a: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1181100" y="7850505"/>
            <a:ext cx="15925800" cy="1644015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Object 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코드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hlinkClick r:id="rId7"/>
              </a:rPr>
              <a:t>https://github.com/eunjiyun/Unity_Of_Mind/blob/main/CG_FinalProject/object.cpp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Cube , Wall 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코드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hlinkClick r:id="rId8"/>
              </a:rPr>
              <a:t>https://github.com/eunjiyun/Unity_Of_Mind/blob/main/CG_FinalProject/wall.cpp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Player 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코드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hlinkClick r:id="rId9"/>
              </a:rPr>
              <a:t>https://github.com/eunjiyun/Unity_Of_Mind/blob/main/CG_FinalProject/player.cpp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  <p:pic>
        <p:nvPicPr>
          <p:cNvPr id="15" name="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11430000" y="3359150"/>
            <a:ext cx="5070803" cy="338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8307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06400" y="520700"/>
            <a:ext cx="17475200" cy="9245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87350" y="501650"/>
            <a:ext cx="17513300" cy="9283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81100" y="8331200"/>
            <a:ext cx="159258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81100" y="1422400"/>
            <a:ext cx="159258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181100" y="2590800"/>
            <a:ext cx="15925800" cy="127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130300" y="1625600"/>
            <a:ext cx="16002000" cy="685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defRPr/>
            </a:pPr>
            <a:r>
              <a:rPr lang="en-US" altLang="ko-KR" sz="3800" b="0" i="0" u="none" strike="noStrike">
                <a:solidFill>
                  <a:srgbClr val="000000"/>
                </a:solidFill>
                <a:ea typeface="Pretendard SemiBold"/>
              </a:rPr>
              <a:t>Unity Of Mind</a:t>
            </a:r>
            <a:endParaRPr lang="en-US" altLang="ko-KR" sz="3800" b="0" i="0" u="none" strike="noStrike">
              <a:solidFill>
                <a:srgbClr val="000000"/>
              </a:solidFill>
              <a:ea typeface="Pretendard Semi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6713200" y="1625600"/>
            <a:ext cx="381000" cy="266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r">
              <a:lnSpc>
                <a:spcPct val="116199"/>
              </a:lnSpc>
              <a:defRPr/>
            </a:pPr>
            <a:r>
              <a:rPr lang="en-US" sz="1500" b="0" i="0" u="none" strike="noStrike">
                <a:solidFill>
                  <a:srgbClr val="000000"/>
                </a:solidFill>
                <a:latin typeface="Pretendard Bold"/>
              </a:rPr>
              <a:t>0</a:t>
            </a:r>
            <a:r>
              <a:rPr lang="en-US" altLang="ko-KR" sz="1500" b="0" i="0" u="none" strike="noStrike">
                <a:solidFill>
                  <a:srgbClr val="000000"/>
                </a:solidFill>
                <a:latin typeface="Pretendard Bold"/>
              </a:rPr>
              <a:t>2</a:t>
            </a:r>
            <a:endParaRPr lang="en-US" altLang="ko-KR" sz="1500" b="0" i="0" u="none" strike="noStrike">
              <a:solidFill>
                <a:srgbClr val="000000"/>
              </a:solidFill>
              <a:latin typeface="Pretendard Bold"/>
            </a:endParaRPr>
          </a:p>
        </p:txBody>
      </p:sp>
      <p:sp>
        <p:nvSpPr>
          <p:cNvPr id="12" name="TextBox 23"/>
          <p:cNvSpPr txBox="1"/>
          <p:nvPr/>
        </p:nvSpPr>
        <p:spPr>
          <a:xfrm>
            <a:off x="1219200" y="4152900"/>
            <a:ext cx="10058400" cy="2819400"/>
          </a:xfrm>
          <a:prstGeom prst="rect">
            <a:avLst/>
          </a:prstGeom>
        </p:spPr>
        <p:txBody>
          <a:bodyPr lIns="0" tIns="0" rIns="0" bIns="0" anchor="ctr"/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1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파일 입출력을 통해 쉐이더를 로드하고</a:t>
            </a:r>
            <a:r>
              <a:rPr xmlns:mc="http://schemas.openxmlformats.org/markup-compatibility/2006" xmlns:hp="http://schemas.haansoft.com/office/presentation/8.0" kumimoji="0" lang="en-US" altLang="ko-KR" b="1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b="1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컴파일</a:t>
            </a:r>
            <a:r>
              <a:rPr xmlns:mc="http://schemas.openxmlformats.org/markup-compatibility/2006" xmlns:hp="http://schemas.haansoft.com/office/presentation/8.0" kumimoji="0" lang="en-US" altLang="ko-KR" b="1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b="1" i="0" u="none" strike="noStrike" kern="1200" cap="none" spc="0" normalizeH="0" baseline="0" mc:Ignorable="hp" hp:hslEmbossed="0">
                <a:solidFill>
                  <a:srgbClr val="000000"/>
                </a:solidFill>
                <a:latin typeface="Pretendard Light"/>
              </a:rPr>
              <a:t> 링크 과정을 처리하는 쉐이더 관리 모듈 설계</a:t>
            </a:r>
            <a:endPara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버텍스 및 프래그먼트 셰이더를 작성하여 오브젝트의 색상과 텍스처를 처리할 수 있도록 했다.</a:t>
            </a: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이를 통해 Cube, Wall, Player 등 다양한 오브젝트를 렌더링하는 셰이더 시스템을 구축하였다</a:t>
            </a: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Pretendard Light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1181100" y="8420100"/>
            <a:ext cx="15925800" cy="481965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0" hangingPunct="1">
              <a:lnSpc>
                <a:spcPct val="1411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Shader 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코드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hlinkClick r:id="rId7"/>
              </a:rPr>
              <a:t>https://github.com/eunjiyun/Unity_Of_Mind/blob/main/CG_FinalProject/shader.cpp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  <p:pic>
        <p:nvPicPr>
          <p:cNvPr id="19" name="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3639800" y="2704849"/>
            <a:ext cx="3346382" cy="640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2862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06400" y="520700"/>
            <a:ext cx="17475200" cy="9245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85800" y="787400"/>
            <a:ext cx="16916400" cy="86995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6197600" y="3352800"/>
            <a:ext cx="5905500" cy="546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Light"/>
              </a:rPr>
              <a:t>검토해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Light"/>
              </a:rPr>
              <a:t>주셔서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Light"/>
              </a:rPr>
              <a:t>감사합니다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11900" y="3835400"/>
            <a:ext cx="6985000" cy="160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9000" b="false" i="false" u="none" strike="noStrike" spc="-400">
                <a:solidFill>
                  <a:srgbClr val="000000"/>
                </a:solidFill>
                <a:latin typeface="Pretendard Bold"/>
              </a:rPr>
              <a:t>HANK YOU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40300" y="3505200"/>
            <a:ext cx="1790700" cy="2463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3300" b="false" i="false" u="none" strike="noStrike" spc="-700">
                <a:solidFill>
                  <a:srgbClr val="000000"/>
                </a:solidFill>
                <a:latin typeface="Mr Dafoe Regular"/>
              </a:rPr>
              <a:t>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838</ep:Words>
  <ep:PresentationFormat>On-screen Show (4:3)</ep:PresentationFormat>
  <ep:Paragraphs>200</ep:Paragraphs>
  <ep:Slides>16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ep:HeadingPairs>
  <ep:TitlesOfParts>
    <vt:vector size="17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ASUS</cp:lastModifiedBy>
  <dcterms:modified xsi:type="dcterms:W3CDTF">2025-09-14T09:11:32.549</dcterms:modified>
  <cp:revision>93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