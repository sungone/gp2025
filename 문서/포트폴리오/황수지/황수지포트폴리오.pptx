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80" r:id="rId2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39">
          <p15:clr>
            <a:srgbClr val="A4A3A4"/>
          </p15:clr>
        </p15:guide>
        <p15:guide id="2" pos="575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181" autoAdjust="0"/>
    <p:restoredTop sz="94622" autoAdjust="0"/>
  </p:normalViewPr>
  <p:slideViewPr>
    <p:cSldViewPr>
      <p:cViewPr>
        <p:scale>
          <a:sx n="66" d="100"/>
          <a:sy n="66" d="100"/>
        </p:scale>
        <p:origin x="150" y="162"/>
      </p:cViewPr>
      <p:guideLst>
        <p:guide orient="horz" pos="3239"/>
        <p:guide pos="575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kqPZXgjn8c" TargetMode="Externa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NkqPZXgjn8c" TargetMode="External"/><Relationship Id="rId4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WOgtC9ySq3c" TargetMode="External"/><Relationship Id="rId4" Type="http://schemas.openxmlformats.org/officeDocument/2006/relationships/hyperlink" Target="https://youtu.be/WOgtC9ySq3c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494218" y="5966661"/>
            <a:ext cx="7299563" cy="0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  <a:cs typeface="Ari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5494218" y="4120314"/>
            <a:ext cx="8831382" cy="181376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just">
              <a:lnSpc>
                <a:spcPts val="14257"/>
              </a:lnSpc>
              <a:spcBef>
                <a:spcPct val="0"/>
              </a:spcBef>
              <a:defRPr/>
            </a:pPr>
            <a:r>
              <a:rPr lang="en-US" sz="10184" b="1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bin Bold"/>
              </a:rPr>
              <a:t>포트폴리오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494217" y="3536114"/>
            <a:ext cx="7299564" cy="7120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5599"/>
              </a:lnSpc>
              <a:spcBef>
                <a:spcPct val="0"/>
              </a:spcBef>
              <a:defRPr/>
            </a:pPr>
            <a:r>
              <a:rPr lang="en-US" sz="3999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nva Sans"/>
              </a:rPr>
              <a:t>게임서버 신입프로그래머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494217" y="5995236"/>
            <a:ext cx="7299564" cy="79608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r">
              <a:lnSpc>
                <a:spcPts val="6299"/>
              </a:lnSpc>
              <a:spcBef>
                <a:spcPct val="0"/>
              </a:spcBef>
              <a:defRPr/>
            </a:pPr>
            <a:r>
              <a:rPr lang="en-US" sz="4499">
                <a:solidFill>
                  <a:srgbClr val="475570"/>
                </a:solidFill>
                <a:latin typeface="한컴 윤고딕 760"/>
                <a:ea typeface="한컴 윤고딕 760"/>
                <a:cs typeface="Arial"/>
                <a:sym typeface="Canva Sans"/>
              </a:rPr>
              <a:t>황수지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755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912041" y="6181725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1912041" y="7208190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912041" y="8234656"/>
            <a:ext cx="11139585" cy="0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76315" y="1451589"/>
            <a:ext cx="8053485" cy="167261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>
              <a:lnSpc>
                <a:spcPts val="13221"/>
              </a:lnSpc>
              <a:spcBef>
                <a:spcPct val="0"/>
              </a:spcBef>
              <a:defRPr/>
            </a:pPr>
            <a:r>
              <a:rPr lang="en-US" sz="9443" b="1" u="none" strike="noStrike">
                <a:solidFill>
                  <a:srgbClr val="FCFDF8"/>
                </a:solidFill>
                <a:latin typeface="한컴 윤고딕 760"/>
                <a:ea typeface="한컴 윤고딕 760"/>
                <a:cs typeface="Cabin Bold"/>
                <a:sym typeface="Cabin Bold"/>
              </a:rPr>
              <a:t>PROJECTS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23001" y="5383213"/>
            <a:ext cx="8354261" cy="6080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just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티유월드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23001" y="6410795"/>
            <a:ext cx="9158572" cy="6091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 strike="sngStrike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BomeGame (제작중)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423001" y="7438378"/>
            <a:ext cx="8136734" cy="60072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기타 프로젝트들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912041" y="5260975"/>
            <a:ext cx="1021920" cy="4254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12041" y="6321895"/>
            <a:ext cx="1021920" cy="42180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912041" y="7382816"/>
            <a:ext cx="1021920" cy="42768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3359"/>
              </a:lnSpc>
              <a:spcBef>
                <a:spcPct val="0"/>
              </a:spcBef>
              <a:defRPr/>
            </a:pPr>
            <a:r>
              <a:rPr lang="en-US" sz="2399" b="1">
                <a:solidFill>
                  <a:srgbClr val="FCFDF8"/>
                </a:solidFill>
                <a:latin typeface="한컴 윤고딕 760"/>
                <a:ea typeface="한컴 윤고딕 760"/>
                <a:cs typeface="Canva Sans Medium"/>
                <a:sym typeface="Canva Sans Medium"/>
              </a:rPr>
              <a:t>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3686" y="5383213"/>
            <a:ext cx="4897940" cy="6080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r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 (IOCP서버/언리얼)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153686" y="6410795"/>
            <a:ext cx="4897940" cy="6091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r">
              <a:lnSpc>
                <a:spcPts val="4759"/>
              </a:lnSpc>
              <a:spcBef>
                <a:spcPct val="0"/>
              </a:spcBef>
              <a:defRPr/>
            </a:pPr>
            <a:r>
              <a:rPr lang="en-US" sz="3399" strike="sngStrike" dirty="0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 (</a:t>
            </a:r>
            <a:r>
              <a:rPr lang="en-US" sz="3399" strike="sngStrike" dirty="0" err="1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Epoll서버</a:t>
            </a:r>
            <a:r>
              <a:rPr lang="en-US" sz="3399" strike="sngStrike" dirty="0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/</a:t>
            </a:r>
            <a:r>
              <a:rPr lang="en-US" sz="3399" strike="sngStrike" dirty="0" err="1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언리얼</a:t>
            </a:r>
            <a:r>
              <a:rPr lang="en-US" sz="3399" strike="sngStrike" dirty="0">
                <a:solidFill>
                  <a:srgbClr val="FCFDF8"/>
                </a:solidFill>
                <a:latin typeface="한컴 윤고딕 760"/>
                <a:ea typeface="한컴 윤고딕 760"/>
                <a:cs typeface="Canva Sans"/>
                <a:sym typeface="Canva Sans"/>
              </a:rPr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85119" y="3594010"/>
            <a:ext cx="2211148" cy="56841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38801" y="1065212"/>
            <a:ext cx="4095199" cy="105886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8400"/>
              </a:lnSpc>
              <a:spcBef>
                <a:spcPct val="0"/>
              </a:spcBef>
              <a:defRPr/>
            </a:pPr>
            <a:r>
              <a:rPr lang="en-US" sz="6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7450" y="830263"/>
            <a:ext cx="231395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67450" y="8420100"/>
            <a:ext cx="2211148" cy="56765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  <a:endParaRPr lang="en-US" sz="3199" b="1" dirty="0">
              <a:solidFill>
                <a:srgbClr val="475570"/>
              </a:solidFill>
              <a:latin typeface="한컴 윤고딕 740"/>
              <a:ea typeface="한컴 윤고딕 740"/>
              <a:cs typeface="Source Han Sans KR Bold"/>
              <a:sym typeface="Source Han Sans KR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85119" y="4945863"/>
            <a:ext cx="2211148" cy="5691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04074" y="5731239"/>
            <a:ext cx="2211148" cy="56478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177723" y="3594010"/>
            <a:ext cx="3629599" cy="56841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24.11 ~ 25.07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48858" y="8433374"/>
            <a:ext cx="9377488" cy="54111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C++, MySQL, Unreal5.4, 3ds Max  </a:t>
            </a:r>
            <a:r>
              <a:rPr lang="ko-KR" altLang="en-US" sz="3199" dirty="0" err="1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본인스킬셋</a:t>
            </a:r>
            <a:endParaRPr lang="en-US" sz="3199" dirty="0">
              <a:solidFill>
                <a:srgbClr val="475570"/>
              </a:solidFill>
              <a:highlight>
                <a:srgbClr val="FFFF00"/>
              </a:highlight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0" name="AutoShape 10"/>
          <p:cNvSpPr/>
          <p:nvPr/>
        </p:nvSpPr>
        <p:spPr>
          <a:xfrm flipV="1">
            <a:off x="3497805" y="36416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177723" y="4945863"/>
            <a:ext cx="9027810" cy="56911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(서버 1, 클라이언트1, 모델링1)</a:t>
            </a:r>
          </a:p>
        </p:txBody>
      </p:sp>
      <p:sp>
        <p:nvSpPr>
          <p:cNvPr id="12" name="AutoShape 12"/>
          <p:cNvSpPr/>
          <p:nvPr/>
        </p:nvSpPr>
        <p:spPr>
          <a:xfrm flipV="1">
            <a:off x="3497805" y="432881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3" name="AutoShape 13"/>
          <p:cNvSpPr/>
          <p:nvPr/>
        </p:nvSpPr>
        <p:spPr>
          <a:xfrm flipV="1">
            <a:off x="3497805" y="5051876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500602" y="586644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85120" y="2122714"/>
            <a:ext cx="12128088" cy="56333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한국공학대학교 배경으로 한  MMORPG 게임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77722" y="5731230"/>
            <a:ext cx="11250718" cy="226837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defRPr/>
            </a:pP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 제작 담당</a:t>
            </a:r>
            <a:endParaRPr lang="en-US" altLang="ko-KR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defRPr/>
            </a:pP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중심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구조의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게임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로직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구현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defRPr/>
            </a:pP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IOCP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기반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세션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병렬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처리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데이터베이스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스키마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설계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및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연동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368756" y="8801100"/>
            <a:ext cx="9550488" cy="44767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3500"/>
              </a:lnSpc>
              <a:defRPr/>
            </a:pPr>
            <a:r>
              <a:rPr lang="en-US" sz="2500" u="sng">
                <a:solidFill>
                  <a:srgbClr val="475570"/>
                </a:solidFill>
                <a:latin typeface="한컴 윤고딕 720"/>
                <a:ea typeface="한컴 윤고딕 720"/>
                <a:cs typeface="Arimo"/>
                <a:sym typeface="Arimo"/>
                <a:hlinkClick r:id="rId3" tooltip="https://www.youtube.com/watch?v=NkqPZXgjn8c"/>
              </a:rPr>
              <a:t>https://www.youtube.com/watch?v=NkqPZXgjn8c</a:t>
            </a:r>
            <a:endParaRPr lang="en-US" sz="2500" u="sng">
              <a:solidFill>
                <a:srgbClr val="475570"/>
              </a:solidFill>
              <a:latin typeface="한컴 윤고딕 720"/>
              <a:ea typeface="한컴 윤고딕 720"/>
              <a:cs typeface="Arimo"/>
              <a:sym typeface="Arimo"/>
            </a:endParaRPr>
          </a:p>
        </p:txBody>
      </p:sp>
      <p:pic>
        <p:nvPicPr>
          <p:cNvPr id="6" name="NkqPZXgjn8c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 rotWithShape="1">
          <a:blip r:embed="rId4"/>
          <a:stretch>
            <a:fillRect/>
          </a:stretch>
        </p:blipFill>
        <p:spPr>
          <a:xfrm>
            <a:off x="1683109" y="1900237"/>
            <a:ext cx="8648701" cy="64865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ABDAD-3EA9-CC46-8C6E-999A0418B379}"/>
              </a:ext>
            </a:extLst>
          </p:cNvPr>
          <p:cNvSpPr txBox="1"/>
          <p:nvPr/>
        </p:nvSpPr>
        <p:spPr>
          <a:xfrm>
            <a:off x="11125200" y="2095500"/>
            <a:ext cx="4953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게임설명 </a:t>
            </a:r>
            <a:r>
              <a:rPr lang="en-US" altLang="ko-KR" dirty="0"/>
              <a:t>: </a:t>
            </a:r>
          </a:p>
          <a:p>
            <a:endParaRPr lang="en-US" altLang="ko-KR" dirty="0"/>
          </a:p>
          <a:p>
            <a:r>
              <a:rPr lang="en-US" altLang="ko-KR" dirty="0"/>
              <a:t>  </a:t>
            </a:r>
            <a:r>
              <a:rPr lang="ko-KR" altLang="en-US" dirty="0"/>
              <a:t>한국공학대학교를 배경으로 몬스터를 잡고 퀘스트를 풀면서 학교의 미스터리를 해결하는 </a:t>
            </a:r>
            <a:r>
              <a:rPr lang="en-US" altLang="ko-KR" dirty="0"/>
              <a:t>MMORPG</a:t>
            </a:r>
          </a:p>
          <a:p>
            <a:endParaRPr lang="en-US" altLang="ko-KR" dirty="0"/>
          </a:p>
          <a:p>
            <a:r>
              <a:rPr lang="ko-KR" altLang="en-US" dirty="0"/>
              <a:t>최종 보스인 </a:t>
            </a:r>
            <a:r>
              <a:rPr lang="ko-KR" altLang="en-US" dirty="0" err="1"/>
              <a:t>티노를</a:t>
            </a:r>
            <a:r>
              <a:rPr lang="ko-KR" altLang="en-US" dirty="0"/>
              <a:t> 레이드로 잡는 것이 최종목표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XX </a:t>
            </a:r>
            <a:r>
              <a:rPr lang="ko-KR" altLang="en-US" dirty="0"/>
              <a:t>개의 퀘스트로 시나리오를 표현하고</a:t>
            </a:r>
            <a:r>
              <a:rPr lang="en-US" altLang="ko-KR" dirty="0"/>
              <a:t>,  </a:t>
            </a:r>
            <a:r>
              <a:rPr lang="ko-KR" altLang="en-US" dirty="0" err="1"/>
              <a:t>ㅌㅌ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종류의 몬스터</a:t>
            </a:r>
            <a:r>
              <a:rPr lang="en-US" altLang="ko-KR" dirty="0"/>
              <a:t>,, CC </a:t>
            </a:r>
            <a:r>
              <a:rPr lang="ko-KR" altLang="en-US" dirty="0"/>
              <a:t>개의 </a:t>
            </a:r>
            <a:r>
              <a:rPr lang="ko-KR" altLang="en-US" dirty="0" err="1"/>
              <a:t>인던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다양한 아이템과</a:t>
            </a:r>
            <a:r>
              <a:rPr lang="en-US" altLang="ko-KR" dirty="0"/>
              <a:t>, </a:t>
            </a:r>
            <a:r>
              <a:rPr lang="ko-KR" altLang="en-US" dirty="0"/>
              <a:t>스킬</a:t>
            </a:r>
            <a:r>
              <a:rPr lang="en-US" altLang="ko-KR" dirty="0"/>
              <a:t>….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26107" y="695325"/>
            <a:ext cx="307849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54760" y="450850"/>
            <a:ext cx="1501502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94411" y="3236852"/>
            <a:ext cx="13984620" cy="51826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CPU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과부하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지연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증가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</a:p>
          <a:p>
            <a:pPr lvl="0" algn="l">
              <a:lnSpc>
                <a:spcPts val="4799"/>
              </a:lnSpc>
              <a:defRPr/>
            </a:pP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4799"/>
              </a:lnSpc>
              <a:defRPr/>
            </a:pP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안정성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향상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확장성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확보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en-US" sz="3199" dirty="0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(</a:t>
            </a:r>
            <a:r>
              <a:rPr lang="ko-KR" altLang="en-US" sz="3199" dirty="0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적용전과 적용후의 </a:t>
            </a:r>
            <a:r>
              <a:rPr lang="ko-KR" altLang="en-US" sz="3199" dirty="0" err="1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동접</a:t>
            </a:r>
            <a:r>
              <a:rPr lang="ko-KR" altLang="en-US" sz="3199" dirty="0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 비교 표</a:t>
            </a:r>
            <a:r>
              <a:rPr lang="en-US" altLang="ko-KR" sz="3199" dirty="0">
                <a:solidFill>
                  <a:srgbClr val="475570"/>
                </a:solidFill>
                <a:highlight>
                  <a:srgbClr val="FFFF00"/>
                </a:highlight>
                <a:latin typeface="한컴 윤고딕 740"/>
                <a:ea typeface="한컴 윤고딕 740"/>
                <a:cs typeface="Source Han Sans KR"/>
                <a:sym typeface="Source Han Sans KR"/>
              </a:rPr>
              <a:t>)</a:t>
            </a:r>
            <a:endParaRPr lang="en-US" sz="3199" dirty="0">
              <a:solidFill>
                <a:srgbClr val="475570"/>
              </a:solidFill>
              <a:highlight>
                <a:srgbClr val="FFFF00"/>
              </a:highlight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794412" y="2263589"/>
            <a:ext cx="5782478" cy="879661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대규모 씬 최적화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626980" y="4399593"/>
            <a:ext cx="13984620" cy="242983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ko-KR" alt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멀티쓰레드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IOCP로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I/O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병렬화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그리드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+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ViewList로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전송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범위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축소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marL="690876" lvl="1" indent="-345438" algn="l">
              <a:lnSpc>
                <a:spcPts val="6399"/>
              </a:lnSpc>
              <a:buFont typeface="Arial"/>
              <a:buChar char="•"/>
              <a:defRPr/>
            </a:pP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채널링으로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접속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분할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세션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/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이벤트를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채널별로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스코프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제한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963011" y="1179512"/>
            <a:ext cx="10361979" cy="7068650"/>
          </a:xfrm>
          <a:custGeom>
            <a:avLst/>
            <a:gdLst/>
            <a:ahLst/>
            <a:cxnLst/>
            <a:rect l="l" t="t" r="r" b="b"/>
            <a:pathLst>
              <a:path w="10361979" h="7068650">
                <a:moveTo>
                  <a:pt x="0" y="0"/>
                </a:moveTo>
                <a:lnTo>
                  <a:pt x="10361978" y="0"/>
                </a:lnTo>
                <a:lnTo>
                  <a:pt x="10361978" y="7068650"/>
                </a:lnTo>
                <a:lnTo>
                  <a:pt x="0" y="70686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290" b="-4818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TextBox 3"/>
          <p:cNvSpPr txBox="1"/>
          <p:nvPr/>
        </p:nvSpPr>
        <p:spPr>
          <a:xfrm>
            <a:off x="2498764" y="8406565"/>
            <a:ext cx="13290473" cy="113748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비동기적으로 발생하는 IOCP 완료 이벤트를</a:t>
            </a: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CompType(세션 연결·데이터 수신·송신)별로 워커풀에서 병렬 처리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50290" y="1179512"/>
            <a:ext cx="9587419" cy="7430250"/>
          </a:xfrm>
          <a:custGeom>
            <a:avLst/>
            <a:gdLst/>
            <a:ahLst/>
            <a:cxnLst/>
            <a:rect l="l" t="t" r="r" b="b"/>
            <a:pathLst>
              <a:path w="9587419" h="7430250">
                <a:moveTo>
                  <a:pt x="0" y="0"/>
                </a:moveTo>
                <a:lnTo>
                  <a:pt x="9587420" y="0"/>
                </a:lnTo>
                <a:lnTo>
                  <a:pt x="9587420" y="7430250"/>
                </a:lnTo>
                <a:lnTo>
                  <a:pt x="0" y="74302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/>
            <a:stretch>
              <a:fillRect/>
            </a:stretch>
          </a:blipFill>
        </p:spPr>
        <p:txBody>
          <a:bodyPr anchor="ctr"/>
          <a:lstStyle/>
          <a:p>
            <a:pPr lvl="0" algn="ctr">
              <a:defRPr/>
            </a:pPr>
            <a:endParaRPr lang="ko-KR" altLang="en-US">
              <a:latin typeface="한컴 윤고딕 760"/>
              <a:ea typeface="한컴 윤고딕 76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59149" y="8922715"/>
            <a:ext cx="14369702" cy="56418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섹터 기반 ViewList로 인접 객체만 전송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716356" y="1876938"/>
            <a:ext cx="8855288" cy="6533125"/>
          </a:xfrm>
          <a:custGeom>
            <a:avLst/>
            <a:gdLst/>
            <a:ahLst/>
            <a:cxnLst/>
            <a:rect l="l" t="t" r="r" b="b"/>
            <a:pathLst>
              <a:path w="8855288" h="6533125">
                <a:moveTo>
                  <a:pt x="0" y="0"/>
                </a:moveTo>
                <a:lnTo>
                  <a:pt x="8855288" y="0"/>
                </a:lnTo>
                <a:lnTo>
                  <a:pt x="8855288" y="6533124"/>
                </a:lnTo>
                <a:lnTo>
                  <a:pt x="0" y="6533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6927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493732" y="8724900"/>
            <a:ext cx="15300536" cy="53713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GameWorldManager에서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부하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기반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채널링으로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부하 상황을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주기적으로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갱신·공지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73588" y="2522422"/>
            <a:ext cx="7548532" cy="5201123"/>
          </a:xfrm>
          <a:custGeom>
            <a:avLst/>
            <a:gdLst/>
            <a:ahLst/>
            <a:cxnLst/>
            <a:rect l="l" t="t" r="r" b="b"/>
            <a:pathLst>
              <a:path w="7548532" h="5201123">
                <a:moveTo>
                  <a:pt x="0" y="0"/>
                </a:moveTo>
                <a:lnTo>
                  <a:pt x="7548532" y="0"/>
                </a:lnTo>
                <a:lnTo>
                  <a:pt x="7548532" y="5201123"/>
                </a:lnTo>
                <a:lnTo>
                  <a:pt x="0" y="52011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9235683" y="2522422"/>
            <a:ext cx="7578729" cy="5242156"/>
          </a:xfrm>
          <a:custGeom>
            <a:avLst/>
            <a:gdLst/>
            <a:ahLst/>
            <a:cxnLst/>
            <a:rect l="l" t="t" r="r" b="b"/>
            <a:pathLst>
              <a:path w="7578729" h="5242156">
                <a:moveTo>
                  <a:pt x="0" y="0"/>
                </a:moveTo>
                <a:lnTo>
                  <a:pt x="7578729" y="0"/>
                </a:lnTo>
                <a:lnTo>
                  <a:pt x="7578729" y="5242156"/>
                </a:lnTo>
                <a:lnTo>
                  <a:pt x="0" y="52421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/>
          <p:cNvSpPr txBox="1"/>
          <p:nvPr/>
        </p:nvSpPr>
        <p:spPr>
          <a:xfrm>
            <a:off x="3183129" y="8231798"/>
            <a:ext cx="11921740" cy="56930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게임 입장 시 선택 채널 처리 &amp; 게임 중 채널 변경 처리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6" y="4285395"/>
            <a:ext cx="16670630" cy="497745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하드코딩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스폰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/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전환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좌표는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맵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구조가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바뀔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때마다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충돌·위치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오류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발생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ko-KR" alt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언리얼에서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추출한 </a:t>
            </a:r>
            <a:r>
              <a:rPr lang="en-US" altLang="ko-KR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NavMesh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를 서버에서 로딩해서 충돌검사 및 </a:t>
            </a:r>
            <a:r>
              <a:rPr lang="ko-KR" alt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길찾기에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사용</a:t>
            </a:r>
            <a:r>
              <a:rPr lang="en-US" altLang="ko-KR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. </a:t>
            </a:r>
          </a:p>
          <a:p>
            <a:pPr lvl="0" algn="l">
              <a:lnSpc>
                <a:spcPts val="7999"/>
              </a:lnSpc>
              <a:defRPr/>
            </a:pP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       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존·게이트마다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NavMesh에서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좌표를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자동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계산하도록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통합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l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맵을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수정해도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 즉시 반영하여</a:t>
            </a:r>
            <a:r>
              <a:rPr lang="en-US" altLang="ko-KR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안전하게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배치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가능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</a:t>
            </a:r>
          </a:p>
          <a:p>
            <a:pPr lvl="0" algn="l">
              <a:lnSpc>
                <a:spcPts val="7999"/>
              </a:lnSpc>
              <a:defRPr/>
            </a:pP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       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클라이언트와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항상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ko-KR" alt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지형 일치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24586" y="3015122"/>
            <a:ext cx="9940198" cy="88060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NavMesh 기반 스폰·길찾기·맵전환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737460" y="3456235"/>
            <a:ext cx="12068066" cy="5281906"/>
          </a:xfrm>
          <a:custGeom>
            <a:avLst/>
            <a:gdLst/>
            <a:ahLst/>
            <a:cxnLst/>
            <a:rect l="l" t="t" r="r" b="b"/>
            <a:pathLst>
              <a:path w="12068066" h="5281906">
                <a:moveTo>
                  <a:pt x="0" y="0"/>
                </a:moveTo>
                <a:lnTo>
                  <a:pt x="12068065" y="0"/>
                </a:lnTo>
                <a:lnTo>
                  <a:pt x="12068065" y="5281906"/>
                </a:lnTo>
                <a:lnTo>
                  <a:pt x="0" y="5281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34" t="-52132" r="-634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4324535" y="800100"/>
            <a:ext cx="8893914" cy="2127992"/>
          </a:xfrm>
          <a:custGeom>
            <a:avLst/>
            <a:gdLst/>
            <a:ahLst/>
            <a:cxnLst/>
            <a:rect l="l" t="t" r="r" b="b"/>
            <a:pathLst>
              <a:path w="8893914" h="2127992">
                <a:moveTo>
                  <a:pt x="0" y="0"/>
                </a:moveTo>
                <a:lnTo>
                  <a:pt x="8893915" y="0"/>
                </a:lnTo>
                <a:lnTo>
                  <a:pt x="8893915" y="2127992"/>
                </a:lnTo>
                <a:lnTo>
                  <a:pt x="0" y="21279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/>
          <p:cNvSpPr txBox="1"/>
          <p:nvPr/>
        </p:nvSpPr>
        <p:spPr>
          <a:xfrm>
            <a:off x="1929635" y="8690516"/>
            <a:ext cx="13683713" cy="113928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서버에서 JSON파일 파싱 및 서버용 NavMesh 빌드</a:t>
            </a: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NavMesh 기반 A* 알고리즘으로 폴리곤 중심 경로 탐색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865649" y="2880467"/>
            <a:ext cx="7811685" cy="56758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언리얼에서 NavMesh를 JSON으로 추출</a:t>
            </a:r>
          </a:p>
        </p:txBody>
      </p:sp>
      <p:sp>
        <p:nvSpPr>
          <p:cNvPr id="8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4586" y="1974503"/>
            <a:ext cx="7173257" cy="1896783"/>
          </a:xfrm>
          <a:custGeom>
            <a:avLst/>
            <a:gdLst/>
            <a:ahLst/>
            <a:cxnLst/>
            <a:rect l="l" t="t" r="r" b="b"/>
            <a:pathLst>
              <a:path w="7173257" h="1896783">
                <a:moveTo>
                  <a:pt x="0" y="0"/>
                </a:moveTo>
                <a:lnTo>
                  <a:pt x="7173257" y="0"/>
                </a:lnTo>
                <a:lnTo>
                  <a:pt x="7173257" y="1896783"/>
                </a:lnTo>
                <a:lnTo>
                  <a:pt x="0" y="18967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0426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1224586" y="4030728"/>
            <a:ext cx="7173257" cy="5835102"/>
          </a:xfrm>
          <a:custGeom>
            <a:avLst/>
            <a:gdLst/>
            <a:ahLst/>
            <a:cxnLst/>
            <a:rect l="l" t="t" r="r" b="b"/>
            <a:pathLst>
              <a:path w="7173257" h="5835102">
                <a:moveTo>
                  <a:pt x="0" y="0"/>
                </a:moveTo>
                <a:lnTo>
                  <a:pt x="7173257" y="0"/>
                </a:lnTo>
                <a:lnTo>
                  <a:pt x="7173257" y="5835102"/>
                </a:lnTo>
                <a:lnTo>
                  <a:pt x="0" y="58351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137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/>
          <p:cNvSpPr txBox="1"/>
          <p:nvPr/>
        </p:nvSpPr>
        <p:spPr>
          <a:xfrm>
            <a:off x="9144000" y="4269110"/>
            <a:ext cx="7620000" cy="114109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①</a:t>
            </a: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스폰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4000" y="5911880"/>
            <a:ext cx="6495720" cy="56512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플레이어/몬스터 스폰 위치 설정</a:t>
            </a:r>
          </a:p>
        </p:txBody>
      </p:sp>
      <p:sp>
        <p:nvSpPr>
          <p:cNvPr id="8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799260"/>
            <a:ext cx="8921584" cy="7766489"/>
          </a:xfrm>
          <a:custGeom>
            <a:avLst/>
            <a:gdLst/>
            <a:ahLst/>
            <a:cxnLst/>
            <a:rect l="l" t="t" r="r" b="b"/>
            <a:pathLst>
              <a:path w="8921584" h="7766489">
                <a:moveTo>
                  <a:pt x="0" y="0"/>
                </a:moveTo>
                <a:lnTo>
                  <a:pt x="8921584" y="0"/>
                </a:lnTo>
                <a:lnTo>
                  <a:pt x="8921584" y="7766490"/>
                </a:lnTo>
                <a:lnTo>
                  <a:pt x="0" y="77664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0406548" y="4075679"/>
            <a:ext cx="6266416" cy="113449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②</a:t>
            </a: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길찾기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406548" y="5635400"/>
            <a:ext cx="3705820" cy="56537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몬스터 플레이어 쫓기 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4586" y="2134752"/>
            <a:ext cx="9652331" cy="6933795"/>
          </a:xfrm>
          <a:custGeom>
            <a:avLst/>
            <a:gdLst/>
            <a:ahLst/>
            <a:cxnLst/>
            <a:rect l="l" t="t" r="r" b="b"/>
            <a:pathLst>
              <a:path w="9652331" h="6933795">
                <a:moveTo>
                  <a:pt x="0" y="0"/>
                </a:moveTo>
                <a:lnTo>
                  <a:pt x="9652331" y="0"/>
                </a:lnTo>
                <a:lnTo>
                  <a:pt x="9652331" y="6933795"/>
                </a:lnTo>
                <a:lnTo>
                  <a:pt x="0" y="69337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11267484" y="4049539"/>
            <a:ext cx="4566617" cy="114158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NavMesh 활용 ③</a:t>
            </a:r>
          </a:p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: 전환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267484" y="5661540"/>
            <a:ext cx="3444806" cy="56781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맵 전환 시</a:t>
            </a:r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6" y="4275873"/>
            <a:ext cx="17520614" cy="303932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 하드코딩/스프레드시트 의존으로 빌드 반복·값 불일치 발생.</a:t>
            </a:r>
          </a:p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 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CSV 스키마 표준화 + 로더(검증/인덱싱) + 읽기 전용 API로 데이터/로직 분리</a:t>
            </a:r>
          </a:p>
          <a:p>
            <a:pPr lvl="0" algn="l">
              <a:lnSpc>
                <a:spcPts val="8000"/>
              </a:lnSpc>
              <a:defRPr/>
            </a:pPr>
            <a:r>
              <a:rPr lang="en-US" sz="3200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 </a:t>
            </a:r>
            <a:r>
              <a:rPr lang="en-US" sz="32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 밸런스 수정 무빌드 반영, 신규 퀘스트/몬스터 추가 가능, 서버·클라 동일 데이터 유지.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24586" y="3015123"/>
            <a:ext cx="8664802" cy="880602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CSV 기반 콘텐츠 파이프라인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40831" y="2754311"/>
            <a:ext cx="6142124" cy="2932864"/>
          </a:xfrm>
          <a:custGeom>
            <a:avLst/>
            <a:gdLst/>
            <a:ahLst/>
            <a:cxnLst/>
            <a:rect l="l" t="t" r="r" b="b"/>
            <a:pathLst>
              <a:path w="6142124" h="2932864">
                <a:moveTo>
                  <a:pt x="0" y="0"/>
                </a:moveTo>
                <a:lnTo>
                  <a:pt x="6142124" y="0"/>
                </a:lnTo>
                <a:lnTo>
                  <a:pt x="6142124" y="2932865"/>
                </a:lnTo>
                <a:lnTo>
                  <a:pt x="0" y="29328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8474509" y="2754311"/>
            <a:ext cx="7299024" cy="2928734"/>
          </a:xfrm>
          <a:custGeom>
            <a:avLst/>
            <a:gdLst/>
            <a:ahLst/>
            <a:cxnLst/>
            <a:rect l="l" t="t" r="r" b="b"/>
            <a:pathLst>
              <a:path w="7299024" h="2928734">
                <a:moveTo>
                  <a:pt x="0" y="0"/>
                </a:moveTo>
                <a:lnTo>
                  <a:pt x="7299024" y="0"/>
                </a:lnTo>
                <a:lnTo>
                  <a:pt x="7299024" y="2928734"/>
                </a:lnTo>
                <a:lnTo>
                  <a:pt x="0" y="2928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/>
          <p:cNvSpPr txBox="1"/>
          <p:nvPr/>
        </p:nvSpPr>
        <p:spPr>
          <a:xfrm>
            <a:off x="1678258" y="1866900"/>
            <a:ext cx="14931482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컨텐츠는 CSV 스키마로 관리 (플레이어/몬스터/아이템/퀘스트)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40831" y="5658601"/>
            <a:ext cx="2173685" cy="34214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2660"/>
              </a:lnSpc>
              <a:spcBef>
                <a:spcPct val="0"/>
              </a:spcBef>
              <a:defRPr/>
            </a:pPr>
            <a:r>
              <a:rPr lang="en-US" sz="19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ItemTable.csv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74510" y="5654470"/>
            <a:ext cx="2379312" cy="3367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2660"/>
              </a:lnSpc>
              <a:spcBef>
                <a:spcPct val="0"/>
              </a:spcBef>
              <a:defRPr/>
            </a:pPr>
            <a:r>
              <a:rPr lang="en-US" sz="190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QuestTable.csv</a:t>
            </a:r>
          </a:p>
        </p:txBody>
      </p:sp>
      <p:sp>
        <p:nvSpPr>
          <p:cNvPr id="9" name="Freeform 9"/>
          <p:cNvSpPr/>
          <p:nvPr/>
        </p:nvSpPr>
        <p:spPr>
          <a:xfrm>
            <a:off x="4986268" y="6358684"/>
            <a:ext cx="8315464" cy="2964425"/>
          </a:xfrm>
          <a:custGeom>
            <a:avLst/>
            <a:gdLst/>
            <a:ahLst/>
            <a:cxnLst/>
            <a:rect l="l" t="t" r="r" b="b"/>
            <a:pathLst>
              <a:path w="8315464" h="2964425">
                <a:moveTo>
                  <a:pt x="0" y="0"/>
                </a:moveTo>
                <a:lnTo>
                  <a:pt x="8315464" y="0"/>
                </a:lnTo>
                <a:lnTo>
                  <a:pt x="8315464" y="2964426"/>
                </a:lnTo>
                <a:lnTo>
                  <a:pt x="0" y="29644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6167878" y="9258300"/>
            <a:ext cx="5952241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부팅 시 테이블 일괄 로드</a:t>
            </a:r>
          </a:p>
        </p:txBody>
      </p:sp>
      <p:sp>
        <p:nvSpPr>
          <p:cNvPr id="11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12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4760" y="4961357"/>
            <a:ext cx="7384527" cy="2283781"/>
          </a:xfrm>
          <a:custGeom>
            <a:avLst/>
            <a:gdLst/>
            <a:ahLst/>
            <a:cxnLst/>
            <a:rect l="l" t="t" r="r" b="b"/>
            <a:pathLst>
              <a:path w="7384527" h="2283781">
                <a:moveTo>
                  <a:pt x="0" y="0"/>
                </a:moveTo>
                <a:lnTo>
                  <a:pt x="7384527" y="0"/>
                </a:lnTo>
                <a:lnTo>
                  <a:pt x="7384527" y="2283781"/>
                </a:lnTo>
                <a:lnTo>
                  <a:pt x="0" y="22837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9865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3"/>
          <p:cNvSpPr/>
          <p:nvPr/>
        </p:nvSpPr>
        <p:spPr>
          <a:xfrm>
            <a:off x="654760" y="2452446"/>
            <a:ext cx="7720736" cy="2292515"/>
          </a:xfrm>
          <a:custGeom>
            <a:avLst/>
            <a:gdLst/>
            <a:ahLst/>
            <a:cxnLst/>
            <a:rect l="l" t="t" r="r" b="b"/>
            <a:pathLst>
              <a:path w="7720736" h="2292515">
                <a:moveTo>
                  <a:pt x="0" y="0"/>
                </a:moveTo>
                <a:lnTo>
                  <a:pt x="7720737" y="0"/>
                </a:lnTo>
                <a:lnTo>
                  <a:pt x="7720737" y="2292516"/>
                </a:lnTo>
                <a:lnTo>
                  <a:pt x="0" y="229251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 r="-5680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4" name="Freeform 4"/>
          <p:cNvSpPr/>
          <p:nvPr/>
        </p:nvSpPr>
        <p:spPr>
          <a:xfrm>
            <a:off x="8008653" y="2401155"/>
            <a:ext cx="9969307" cy="3356452"/>
          </a:xfrm>
          <a:custGeom>
            <a:avLst/>
            <a:gdLst/>
            <a:ahLst/>
            <a:cxnLst/>
            <a:rect l="l" t="t" r="r" b="b"/>
            <a:pathLst>
              <a:path w="9969307" h="3356452">
                <a:moveTo>
                  <a:pt x="0" y="0"/>
                </a:moveTo>
                <a:lnTo>
                  <a:pt x="9969307" y="0"/>
                </a:lnTo>
                <a:lnTo>
                  <a:pt x="9969307" y="3356453"/>
                </a:lnTo>
                <a:lnTo>
                  <a:pt x="0" y="33564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023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7" name="Freeform 7"/>
          <p:cNvSpPr/>
          <p:nvPr/>
        </p:nvSpPr>
        <p:spPr>
          <a:xfrm>
            <a:off x="8039287" y="5757608"/>
            <a:ext cx="8113011" cy="2128237"/>
          </a:xfrm>
          <a:custGeom>
            <a:avLst/>
            <a:gdLst/>
            <a:ahLst/>
            <a:cxnLst/>
            <a:rect l="l" t="t" r="r" b="b"/>
            <a:pathLst>
              <a:path w="8113011" h="2128237">
                <a:moveTo>
                  <a:pt x="0" y="0"/>
                </a:moveTo>
                <a:lnTo>
                  <a:pt x="8113012" y="0"/>
                </a:lnTo>
                <a:lnTo>
                  <a:pt x="8113012" y="2128237"/>
                </a:lnTo>
                <a:lnTo>
                  <a:pt x="0" y="21282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8"/>
          <p:cNvSpPr txBox="1"/>
          <p:nvPr/>
        </p:nvSpPr>
        <p:spPr>
          <a:xfrm>
            <a:off x="4576507" y="8267700"/>
            <a:ext cx="9134986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서버에서 유효성 검사 &amp; 인덱싱을 수행</a:t>
            </a:r>
          </a:p>
        </p:txBody>
      </p:sp>
      <p:sp>
        <p:nvSpPr>
          <p:cNvPr id="9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10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224585" y="4285395"/>
            <a:ext cx="14942005" cy="303933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just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문제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동시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저장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/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요청에서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락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경합·부분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업데이트로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데이터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꼬임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가능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.</a:t>
            </a:r>
          </a:p>
          <a:p>
            <a:pPr lvl="0" algn="just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해결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커넥션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풀 + RAII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세션으로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연결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수명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통제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just">
              <a:lnSpc>
                <a:spcPts val="7999"/>
              </a:lnSpc>
              <a:defRPr/>
            </a:pPr>
            <a:r>
              <a:rPr lang="en-US" sz="3199" b="1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결과</a:t>
            </a:r>
            <a:r>
              <a:rPr lang="en-US" sz="3199" b="1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  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동시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처리량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↑,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리소스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누수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↓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24585" y="3015122"/>
            <a:ext cx="8148015" cy="88060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40"/>
                <a:ea typeface="한컴 윤고딕 740"/>
                <a:cs typeface="Canva Sans Bold"/>
                <a:sym typeface="Canva Sans Bold"/>
              </a:rPr>
              <a:t>DB 세션 수명 관리 최적화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57251" y="1707597"/>
            <a:ext cx="15573497" cy="6871806"/>
          </a:xfrm>
          <a:custGeom>
            <a:avLst/>
            <a:gdLst/>
            <a:ahLst/>
            <a:cxnLst/>
            <a:rect l="l" t="t" r="r" b="b"/>
            <a:pathLst>
              <a:path w="15573497" h="6871806">
                <a:moveTo>
                  <a:pt x="0" y="0"/>
                </a:moveTo>
                <a:lnTo>
                  <a:pt x="15573498" y="0"/>
                </a:lnTo>
                <a:lnTo>
                  <a:pt x="15573498" y="6871806"/>
                </a:lnTo>
                <a:lnTo>
                  <a:pt x="0" y="68718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5"/>
          <p:cNvSpPr txBox="1"/>
          <p:nvPr/>
        </p:nvSpPr>
        <p:spPr>
          <a:xfrm>
            <a:off x="3285697" y="8953500"/>
            <a:ext cx="11716606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DBManager로 게임 데이터 관리 (친구/인벤토리/프로필)</a:t>
            </a:r>
          </a:p>
        </p:txBody>
      </p:sp>
      <p:sp>
        <p:nvSpPr>
          <p:cNvPr id="6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7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643434" y="8724900"/>
            <a:ext cx="17001132" cy="57150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RAII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기반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세션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관리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+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DBConnectionPool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: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세션은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자동으로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회수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연결은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풀에서</a:t>
            </a:r>
            <a:r>
              <a:rPr lang="en-US" sz="31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31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재사용</a:t>
            </a:r>
            <a:endParaRPr lang="en-US" sz="31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4240762" y="839619"/>
            <a:ext cx="9300929" cy="4891467"/>
          </a:xfrm>
          <a:custGeom>
            <a:avLst/>
            <a:gdLst/>
            <a:ahLst/>
            <a:cxnLst/>
            <a:rect l="l" t="t" r="r" b="b"/>
            <a:pathLst>
              <a:path w="9300929" h="4891467">
                <a:moveTo>
                  <a:pt x="0" y="0"/>
                </a:moveTo>
                <a:lnTo>
                  <a:pt x="9300929" y="0"/>
                </a:lnTo>
                <a:lnTo>
                  <a:pt x="9300929" y="4891468"/>
                </a:lnTo>
                <a:lnTo>
                  <a:pt x="0" y="48914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Freeform 6"/>
          <p:cNvSpPr/>
          <p:nvPr/>
        </p:nvSpPr>
        <p:spPr>
          <a:xfrm>
            <a:off x="3537521" y="5948035"/>
            <a:ext cx="10361561" cy="2307573"/>
          </a:xfrm>
          <a:custGeom>
            <a:avLst/>
            <a:gdLst/>
            <a:ahLst/>
            <a:cxnLst/>
            <a:rect l="l" t="t" r="r" b="b"/>
            <a:pathLst>
              <a:path w="10361561" h="2307573">
                <a:moveTo>
                  <a:pt x="0" y="0"/>
                </a:moveTo>
                <a:lnTo>
                  <a:pt x="10361561" y="0"/>
                </a:lnTo>
                <a:lnTo>
                  <a:pt x="10361561" y="2307573"/>
                </a:lnTo>
                <a:lnTo>
                  <a:pt x="0" y="23075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6817" b="-42092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2"/>
          <p:cNvSpPr txBox="1"/>
          <p:nvPr/>
        </p:nvSpPr>
        <p:spPr>
          <a:xfrm>
            <a:off x="626111" y="695325"/>
            <a:ext cx="4098289" cy="88582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티유월드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654760" y="450850"/>
            <a:ext cx="1998893" cy="349250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85120" y="3594010"/>
            <a:ext cx="2039740" cy="56841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38801" y="1065212"/>
            <a:ext cx="7001106" cy="105886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marL="0" lvl="0" indent="0" algn="l">
              <a:lnSpc>
                <a:spcPts val="8400"/>
              </a:lnSpc>
              <a:spcBef>
                <a:spcPct val="0"/>
              </a:spcBef>
              <a:defRPr/>
            </a:pPr>
            <a:r>
              <a:rPr lang="en-US" sz="6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BombGame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7450" y="830263"/>
            <a:ext cx="178055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85120" y="4251991"/>
            <a:ext cx="2039740" cy="56765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5120" y="4945863"/>
            <a:ext cx="2039740" cy="56911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04075" y="5731239"/>
            <a:ext cx="2039740" cy="56478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177723" y="3594010"/>
            <a:ext cx="3348234" cy="56841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25.05 ~ 06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77722" y="4251991"/>
            <a:ext cx="8650548" cy="56765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Unreal5.5</a:t>
            </a:r>
          </a:p>
        </p:txBody>
      </p:sp>
      <p:sp>
        <p:nvSpPr>
          <p:cNvPr id="10" name="AutoShape 10"/>
          <p:cNvSpPr/>
          <p:nvPr/>
        </p:nvSpPr>
        <p:spPr>
          <a:xfrm flipV="1">
            <a:off x="3497805" y="36416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177723" y="4945863"/>
            <a:ext cx="8327978" cy="56911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1명</a:t>
            </a:r>
          </a:p>
        </p:txBody>
      </p:sp>
      <p:sp>
        <p:nvSpPr>
          <p:cNvPr id="12" name="AutoShape 12"/>
          <p:cNvSpPr/>
          <p:nvPr/>
        </p:nvSpPr>
        <p:spPr>
          <a:xfrm flipV="1">
            <a:off x="3497805" y="4328810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3" name="AutoShape 13"/>
          <p:cNvSpPr/>
          <p:nvPr/>
        </p:nvSpPr>
        <p:spPr>
          <a:xfrm flipV="1">
            <a:off x="3497805" y="5051876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4" name="AutoShape 14"/>
          <p:cNvSpPr/>
          <p:nvPr/>
        </p:nvSpPr>
        <p:spPr>
          <a:xfrm flipV="1">
            <a:off x="3500602" y="586644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285120" y="2122714"/>
            <a:ext cx="11187924" cy="56333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폭탄 던지기 게임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77723" y="5731230"/>
            <a:ext cx="8461328" cy="113629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479"/>
              </a:lnSpc>
              <a:defRPr/>
            </a:pPr>
            <a:r>
              <a:rPr lang="en-US" sz="31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(제작중)</a:t>
            </a:r>
          </a:p>
          <a:p>
            <a:pPr lvl="0" algn="l">
              <a:lnSpc>
                <a:spcPts val="4479"/>
              </a:lnSpc>
              <a:spcBef>
                <a:spcPct val="0"/>
              </a:spcBef>
              <a:defRPr/>
            </a:pPr>
            <a:endParaRPr lang="en-US" sz="3199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525957" y="5397356"/>
            <a:ext cx="8488040" cy="285129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엔진 수업 프로젝트</a:t>
            </a: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언리얼서버로 매칭, 채팅, 커스텀 동기화 구현 상태.</a:t>
            </a: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endParaRPr lang="en-US" sz="3199">
              <a:solidFill>
                <a:srgbClr val="FF3131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→ epoll서버 학습 겸 서버 재작업하려고 함</a:t>
            </a:r>
          </a:p>
          <a:p>
            <a:pPr lvl="0" algn="ctr">
              <a:lnSpc>
                <a:spcPts val="4479"/>
              </a:lnSpc>
              <a:spcBef>
                <a:spcPct val="0"/>
              </a:spcBef>
              <a:defRPr/>
            </a:pPr>
            <a:r>
              <a:rPr lang="en-US" sz="3199">
                <a:solidFill>
                  <a:srgbClr val="FF3131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포트폴리오에 넣을지 고민중</a:t>
            </a:r>
          </a:p>
        </p:txBody>
      </p:sp>
      <p:pic>
        <p:nvPicPr>
          <p:cNvPr id="19" name="WOgtC9ySq3c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 rotWithShape="1">
          <a:blip r:embed="rId3"/>
          <a:stretch>
            <a:fillRect/>
          </a:stretch>
        </p:blipFill>
        <p:spPr>
          <a:xfrm>
            <a:off x="9601200" y="1333500"/>
            <a:ext cx="4572000" cy="3429000"/>
          </a:xfrm>
          <a:prstGeom prst="rect">
            <a:avLst/>
          </a:prstGeom>
        </p:spPr>
      </p:pic>
      <p:sp>
        <p:nvSpPr>
          <p:cNvPr id="20" name="가로 글상자 19"/>
          <p:cNvSpPr txBox="1"/>
          <p:nvPr/>
        </p:nvSpPr>
        <p:spPr>
          <a:xfrm>
            <a:off x="11925300" y="4779645"/>
            <a:ext cx="5829300" cy="3638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>
                <a:hlinkClick r:id="rId4"/>
              </a:rPr>
              <a:t>https://youtu.be/WOgtC9ySq3c</a:t>
            </a:r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38801" y="1074737"/>
            <a:ext cx="4872762" cy="8778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기타프로젝트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67450" y="830263"/>
            <a:ext cx="1584423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836702" y="1516062"/>
            <a:ext cx="2326098" cy="4460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ts val="3499"/>
              </a:lnSpc>
              <a:spcBef>
                <a:spcPct val="0"/>
              </a:spcBef>
              <a:defRPr/>
            </a:pPr>
            <a:r>
              <a:rPr lang="en-US" sz="2499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/ 다크나이츠</a:t>
            </a:r>
          </a:p>
        </p:txBody>
      </p:sp>
      <p:sp>
        <p:nvSpPr>
          <p:cNvPr id="5" name="Freeform 5"/>
          <p:cNvSpPr/>
          <p:nvPr/>
        </p:nvSpPr>
        <p:spPr>
          <a:xfrm>
            <a:off x="1133750" y="2962560"/>
            <a:ext cx="5091270" cy="3401591"/>
          </a:xfrm>
          <a:custGeom>
            <a:avLst/>
            <a:gdLst/>
            <a:ahLst/>
            <a:cxnLst/>
            <a:rect l="l" t="t" r="r" b="b"/>
            <a:pathLst>
              <a:path w="5091270" h="3401591">
                <a:moveTo>
                  <a:pt x="0" y="0"/>
                </a:moveTo>
                <a:lnTo>
                  <a:pt x="5091271" y="0"/>
                </a:lnTo>
                <a:lnTo>
                  <a:pt x="5091271" y="3401591"/>
                </a:lnTo>
                <a:lnTo>
                  <a:pt x="0" y="34015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6" name="Freeform 6"/>
          <p:cNvSpPr/>
          <p:nvPr/>
        </p:nvSpPr>
        <p:spPr>
          <a:xfrm>
            <a:off x="6559004" y="2962560"/>
            <a:ext cx="4959892" cy="3345959"/>
          </a:xfrm>
          <a:custGeom>
            <a:avLst/>
            <a:gdLst/>
            <a:ahLst/>
            <a:cxnLst/>
            <a:rect l="l" t="t" r="r" b="b"/>
            <a:pathLst>
              <a:path w="4959892" h="3345959">
                <a:moveTo>
                  <a:pt x="0" y="0"/>
                </a:moveTo>
                <a:lnTo>
                  <a:pt x="4959892" y="0"/>
                </a:lnTo>
                <a:lnTo>
                  <a:pt x="4959892" y="3345959"/>
                </a:lnTo>
                <a:lnTo>
                  <a:pt x="0" y="33459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7" name="Freeform 7"/>
          <p:cNvSpPr/>
          <p:nvPr/>
        </p:nvSpPr>
        <p:spPr>
          <a:xfrm>
            <a:off x="11767550" y="2962560"/>
            <a:ext cx="5386700" cy="3373775"/>
          </a:xfrm>
          <a:custGeom>
            <a:avLst/>
            <a:gdLst/>
            <a:ahLst/>
            <a:cxnLst/>
            <a:rect l="l" t="t" r="r" b="b"/>
            <a:pathLst>
              <a:path w="5386700" h="3373775">
                <a:moveTo>
                  <a:pt x="0" y="0"/>
                </a:moveTo>
                <a:lnTo>
                  <a:pt x="5386700" y="0"/>
                </a:lnTo>
                <a:lnTo>
                  <a:pt x="5386700" y="3373775"/>
                </a:lnTo>
                <a:lnTo>
                  <a:pt x="0" y="33737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146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8"/>
          <p:cNvSpPr txBox="1"/>
          <p:nvPr/>
        </p:nvSpPr>
        <p:spPr>
          <a:xfrm>
            <a:off x="1267450" y="6755152"/>
            <a:ext cx="2039740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7450" y="7413133"/>
            <a:ext cx="2039740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67450" y="8086459"/>
            <a:ext cx="2039740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6099" y="8776970"/>
            <a:ext cx="2039740" cy="49085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60053" y="6755152"/>
            <a:ext cx="3348234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24.11 (5주)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60052" y="7413133"/>
            <a:ext cx="8650548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C++, WinAPI</a:t>
            </a:r>
          </a:p>
        </p:txBody>
      </p:sp>
      <p:sp>
        <p:nvSpPr>
          <p:cNvPr id="14" name="AutoShape 14"/>
          <p:cNvSpPr/>
          <p:nvPr/>
        </p:nvSpPr>
        <p:spPr>
          <a:xfrm flipV="1">
            <a:off x="3480135" y="6812302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160053" y="8086459"/>
            <a:ext cx="8327978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(서버1, 클라이언트 2명)</a:t>
            </a:r>
          </a:p>
        </p:txBody>
      </p:sp>
      <p:sp>
        <p:nvSpPr>
          <p:cNvPr id="16" name="AutoShape 16"/>
          <p:cNvSpPr/>
          <p:nvPr/>
        </p:nvSpPr>
        <p:spPr>
          <a:xfrm flipV="1">
            <a:off x="3480135" y="7499477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7" name="AutoShape 17"/>
          <p:cNvSpPr/>
          <p:nvPr/>
        </p:nvSpPr>
        <p:spPr>
          <a:xfrm flipV="1">
            <a:off x="3489660" y="8143609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8" name="AutoShape 18"/>
          <p:cNvSpPr/>
          <p:nvPr/>
        </p:nvSpPr>
        <p:spPr>
          <a:xfrm flipV="1">
            <a:off x="3489830" y="88169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4169747" y="8776961"/>
            <a:ext cx="8461328" cy="49086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네트워크 프레임워크 제작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38801" y="2229134"/>
            <a:ext cx="7676599" cy="50180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4199"/>
              </a:lnSpc>
              <a:spcBef>
                <a:spcPct val="0"/>
              </a:spcBef>
              <a:defRPr/>
            </a:pPr>
            <a:r>
              <a:rPr lang="ko-KR" altLang="en-US" sz="29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멀티플레이어 </a:t>
            </a:r>
            <a:r>
              <a:rPr lang="en-US" sz="29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횡스크롤</a:t>
            </a:r>
            <a:r>
              <a:rPr lang="en-US" sz="29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9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액션</a:t>
            </a:r>
            <a:r>
              <a:rPr lang="en-US" sz="29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9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슈팅</a:t>
            </a:r>
            <a:r>
              <a:rPr lang="en-US" sz="29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9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게임</a:t>
            </a:r>
            <a:endParaRPr lang="en-US" sz="29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3480135" y="7499477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3" name="AutoShape 3"/>
          <p:cNvSpPr/>
          <p:nvPr/>
        </p:nvSpPr>
        <p:spPr>
          <a:xfrm flipV="1">
            <a:off x="3489660" y="8143609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4" name="AutoShape 4"/>
          <p:cNvSpPr/>
          <p:nvPr/>
        </p:nvSpPr>
        <p:spPr>
          <a:xfrm flipV="1">
            <a:off x="3489830" y="8816935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238801" y="1074737"/>
            <a:ext cx="5260871" cy="8778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marL="0" lvl="0" indent="0" algn="l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475570"/>
                </a:solidFill>
                <a:latin typeface="한컴 윤고딕 760"/>
                <a:ea typeface="한컴 윤고딕 760"/>
                <a:cs typeface="Canva Sans Bold"/>
                <a:sym typeface="Canva Sans Bold"/>
              </a:rPr>
              <a:t>기타프로젝트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67450" y="830263"/>
            <a:ext cx="1710620" cy="35083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ts val="2800"/>
              </a:lnSpc>
              <a:spcBef>
                <a:spcPct val="0"/>
              </a:spcBef>
              <a:defRPr/>
            </a:pPr>
            <a:r>
              <a:rPr lang="en-US" sz="2000">
                <a:solidFill>
                  <a:srgbClr val="475570"/>
                </a:solidFill>
                <a:latin typeface="한컴 윤고딕 760"/>
                <a:ea typeface="한컴 윤고딕 760"/>
                <a:cs typeface="Cabin"/>
                <a:sym typeface="Cabin"/>
              </a:rPr>
              <a:t>PROJECTS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29200" y="1420812"/>
            <a:ext cx="3617380" cy="44608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ts val="3499"/>
              </a:lnSpc>
              <a:spcBef>
                <a:spcPct val="0"/>
              </a:spcBef>
              <a:defRPr/>
            </a:pPr>
            <a:r>
              <a:rPr lang="en-US" sz="2499" b="1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/ </a:t>
            </a:r>
            <a:r>
              <a:rPr lang="en-US" sz="2499">
                <a:solidFill>
                  <a:srgbClr val="475570"/>
                </a:solidFill>
                <a:latin typeface="한컴 윤고딕 760"/>
                <a:ea typeface="한컴 윤고딕 760"/>
                <a:cs typeface="Source Han Sans KR Bold"/>
                <a:sym typeface="Source Han Sans KR Bold"/>
              </a:rPr>
              <a:t>GravityRacing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67450" y="7413133"/>
            <a:ext cx="2039740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개발도구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7450" y="8086459"/>
            <a:ext cx="2039740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개발인원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96099" y="8776970"/>
            <a:ext cx="2039740" cy="490855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담당업무</a:t>
            </a:r>
          </a:p>
        </p:txBody>
      </p:sp>
      <p:sp>
        <p:nvSpPr>
          <p:cNvPr id="11" name="AutoShape 11"/>
          <p:cNvSpPr/>
          <p:nvPr/>
        </p:nvSpPr>
        <p:spPr>
          <a:xfrm flipV="1">
            <a:off x="3480135" y="6812302"/>
            <a:ext cx="0" cy="393105"/>
          </a:xfrm>
          <a:prstGeom prst="line">
            <a:avLst/>
          </a:prstGeom>
          <a:ln w="19050" cap="flat">
            <a:solidFill>
              <a:srgbClr val="000000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1028700" y="3475747"/>
            <a:ext cx="5186143" cy="2534728"/>
          </a:xfrm>
          <a:custGeom>
            <a:avLst/>
            <a:gdLst/>
            <a:ahLst/>
            <a:cxnLst/>
            <a:rect l="l" t="t" r="r" b="b"/>
            <a:pathLst>
              <a:path w="5186143" h="2534728">
                <a:moveTo>
                  <a:pt x="0" y="0"/>
                </a:moveTo>
                <a:lnTo>
                  <a:pt x="5186143" y="0"/>
                </a:lnTo>
                <a:lnTo>
                  <a:pt x="5186143" y="2534727"/>
                </a:lnTo>
                <a:lnTo>
                  <a:pt x="0" y="25347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1" r="-151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3" name="Freeform 13"/>
          <p:cNvSpPr/>
          <p:nvPr/>
        </p:nvSpPr>
        <p:spPr>
          <a:xfrm>
            <a:off x="12105211" y="3514987"/>
            <a:ext cx="5410269" cy="2495487"/>
          </a:xfrm>
          <a:custGeom>
            <a:avLst/>
            <a:gdLst/>
            <a:ahLst/>
            <a:cxnLst/>
            <a:rect l="l" t="t" r="r" b="b"/>
            <a:pathLst>
              <a:path w="5410269" h="2495487">
                <a:moveTo>
                  <a:pt x="0" y="0"/>
                </a:moveTo>
                <a:lnTo>
                  <a:pt x="5410270" y="0"/>
                </a:lnTo>
                <a:lnTo>
                  <a:pt x="5410270" y="2495487"/>
                </a:lnTo>
                <a:lnTo>
                  <a:pt x="0" y="24954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4" name="Freeform 14"/>
          <p:cNvSpPr/>
          <p:nvPr/>
        </p:nvSpPr>
        <p:spPr>
          <a:xfrm>
            <a:off x="6389807" y="3514987"/>
            <a:ext cx="5540440" cy="2555528"/>
          </a:xfrm>
          <a:custGeom>
            <a:avLst/>
            <a:gdLst/>
            <a:ahLst/>
            <a:cxnLst/>
            <a:rect l="l" t="t" r="r" b="b"/>
            <a:pathLst>
              <a:path w="5540440" h="2555528">
                <a:moveTo>
                  <a:pt x="0" y="0"/>
                </a:moveTo>
                <a:lnTo>
                  <a:pt x="5540440" y="0"/>
                </a:lnTo>
                <a:lnTo>
                  <a:pt x="5540440" y="2555528"/>
                </a:lnTo>
                <a:lnTo>
                  <a:pt x="0" y="25555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1267450" y="6755152"/>
            <a:ext cx="2039740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b="1">
                <a:solidFill>
                  <a:srgbClr val="475570"/>
                </a:solidFill>
                <a:latin typeface="한컴 윤고딕 740"/>
                <a:ea typeface="한컴 윤고딕 740"/>
                <a:cs typeface="Source Han Sans KR Bold"/>
                <a:sym typeface="Source Han Sans KR Bold"/>
              </a:rPr>
              <a:t>개발기간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60053" y="6755152"/>
            <a:ext cx="3348234" cy="493373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25.08 (2주)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160052" y="7413133"/>
            <a:ext cx="8650548" cy="492617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Unreal5.5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160053" y="8086459"/>
            <a:ext cx="8327978" cy="48604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3명 (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클라이언트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2, 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모델링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1)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169747" y="8776961"/>
            <a:ext cx="8461328" cy="490864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3918"/>
              </a:lnSpc>
              <a:spcBef>
                <a:spcPct val="0"/>
              </a:spcBef>
              <a:defRPr/>
            </a:pP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UI/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사운드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처리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, 앱 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스토어</a:t>
            </a:r>
            <a:r>
              <a:rPr lang="en-US" sz="2799" dirty="0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 </a:t>
            </a:r>
            <a:r>
              <a:rPr lang="en-US" sz="2799" dirty="0" err="1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등록</a:t>
            </a:r>
            <a:endParaRPr lang="en-US" sz="2799" dirty="0">
              <a:solidFill>
                <a:srgbClr val="475570"/>
              </a:solidFill>
              <a:latin typeface="한컴 윤고딕 740"/>
              <a:ea typeface="한컴 윤고딕 740"/>
              <a:cs typeface="Source Han Sans KR"/>
              <a:sym typeface="Source Han Sans KR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38801" y="2229134"/>
            <a:ext cx="5072315" cy="533116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l">
              <a:lnSpc>
                <a:spcPts val="4199"/>
              </a:lnSpc>
              <a:spcBef>
                <a:spcPct val="0"/>
              </a:spcBef>
              <a:defRPr/>
            </a:pPr>
            <a:r>
              <a:rPr lang="en-US" sz="2999">
                <a:solidFill>
                  <a:srgbClr val="475570"/>
                </a:solidFill>
                <a:latin typeface="한컴 윤고딕 740"/>
                <a:ea typeface="한컴 윤고딕 740"/>
                <a:cs typeface="Source Han Sans KR"/>
                <a:sym typeface="Source Han Sans KR"/>
              </a:rPr>
              <a:t>중력반전 러너 게임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755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106400" y="7447534"/>
            <a:ext cx="4152900" cy="87731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ts val="7000"/>
              </a:lnSpc>
              <a:spcBef>
                <a:spcPct val="0"/>
              </a:spcBef>
              <a:defRPr/>
            </a:pPr>
            <a:r>
              <a:rPr lang="en-US" sz="5000" b="1">
                <a:solidFill>
                  <a:srgbClr val="FCFDF8"/>
                </a:solidFill>
                <a:latin typeface="한컴 윤고딕 740"/>
                <a:ea typeface="한컴 윤고딕 740"/>
                <a:cs typeface="Cabin Bold"/>
                <a:sym typeface="Cabin Bold"/>
              </a:rPr>
              <a:t>감사합니다</a:t>
            </a:r>
          </a:p>
        </p:txBody>
      </p:sp>
      <p:sp>
        <p:nvSpPr>
          <p:cNvPr id="3" name="AutoShape 3"/>
          <p:cNvSpPr/>
          <p:nvPr/>
        </p:nvSpPr>
        <p:spPr>
          <a:xfrm>
            <a:off x="13867037" y="8500236"/>
            <a:ext cx="3392237" cy="9525"/>
          </a:xfrm>
          <a:prstGeom prst="line">
            <a:avLst/>
          </a:prstGeom>
          <a:ln w="19050" cap="flat">
            <a:solidFill>
              <a:srgbClr val="FCFDF8">
                <a:alpha val="19610"/>
              </a:srgbClr>
            </a:solidFill>
            <a:prstDash val="solid"/>
            <a:headEnd w="sm" len="sm"/>
            <a:tailEnd w="sm" len="sm"/>
          </a:ln>
        </p:spPr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한컴 윤고딕 740"/>
              <a:ea typeface="한컴 윤고딕 740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762076" y="8724875"/>
            <a:ext cx="6497196" cy="52390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/>
          <a:p>
            <a:pPr lvl="0" algn="r">
              <a:lnSpc>
                <a:spcPts val="4200"/>
              </a:lnSpc>
              <a:spcBef>
                <a:spcPct val="0"/>
              </a:spcBef>
              <a:defRPr/>
            </a:pPr>
            <a:r>
              <a:rPr lang="en-US" sz="3000">
                <a:solidFill>
                  <a:srgbClr val="FCFDF8"/>
                </a:solidFill>
                <a:latin typeface="한컴 윤고딕 740"/>
                <a:ea typeface="한컴 윤고딕 740"/>
                <a:cs typeface="Arimo"/>
                <a:sym typeface="Arimo"/>
              </a:rPr>
              <a:t>hwangsuji329@gmail.com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649</Words>
  <Application>Microsoft Office PowerPoint</Application>
  <PresentationFormat>사용자 지정</PresentationFormat>
  <Paragraphs>161</Paragraphs>
  <Slides>24</Slides>
  <Notes>0</Notes>
  <HiddenSlides>0</HiddenSlides>
  <MMClips>2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한컴 윤고딕 720</vt:lpstr>
      <vt:lpstr>한컴 윤고딕 740</vt:lpstr>
      <vt:lpstr>한컴 윤고딕 760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서버포폴</dc:title>
  <cp:lastModifiedBy>Nai Hoon Jung</cp:lastModifiedBy>
  <cp:revision>9</cp:revision>
  <dcterms:created xsi:type="dcterms:W3CDTF">2006-08-16T00:00:00Z</dcterms:created>
  <dcterms:modified xsi:type="dcterms:W3CDTF">2025-09-04T11:00:37Z</dcterms:modified>
  <cp:version/>
</cp:coreProperties>
</file>