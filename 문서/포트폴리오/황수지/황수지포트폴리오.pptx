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8" r:id="rId20"/>
    <p:sldId id="279" r:id="rId21"/>
    <p:sldId id="280" r:id="rId2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23181" autoAdjust="0"/>
    <p:restoredTop sz="94622" autoAdjust="0"/>
  </p:normalViewPr>
  <p:slideViewPr>
    <p:cSldViewPr>
      <p:cViewPr>
        <p:scale>
          <a:sx n="40" d="100"/>
          <a:sy n="40" d="100"/>
        </p:scale>
        <p:origin x="150" y="162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hyperlink" Target="https://github.com/sungone/GP2025.git" TargetMode="External"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hyperlink" Target="https://www.youtube.com/watch?v=NkqPZXgjn8c" TargetMode="External" /><Relationship Id="rId3" Type="http://schemas.openxmlformats.org/officeDocument/2006/relationships/video" Target="https://www.youtube.com/embed/NkqPZXgjn8c" TargetMode="External" /><Relationship Id="rId4" Type="http://schemas.openxmlformats.org/officeDocument/2006/relationships/image" Target="../media/image1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jpeg"  /><Relationship Id="rId3" Type="http://schemas.openxmlformats.org/officeDocument/2006/relationships/image" Target="../media/image24.jpeg"  /><Relationship Id="rId4" Type="http://schemas.openxmlformats.org/officeDocument/2006/relationships/image" Target="../media/image25.jpe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494218" y="5966661"/>
            <a:ext cx="7299563" cy="0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60"/>
              <a:ea typeface="한컴 윤고딕 760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94218" y="4120314"/>
            <a:ext cx="8831382" cy="181376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just">
              <a:lnSpc>
                <a:spcPts val="14257"/>
              </a:lnSpc>
              <a:spcBef>
                <a:spcPct val="0"/>
              </a:spcBef>
              <a:defRPr/>
            </a:pPr>
            <a:r>
              <a:rPr lang="en-US" sz="10184" b="1">
                <a:solidFill>
                  <a:srgbClr val="475570"/>
                </a:solidFill>
                <a:latin typeface="한컴 윤고딕 760"/>
                <a:ea typeface="한컴 윤고딕 760"/>
                <a:cs typeface="Arial"/>
                <a:sym typeface="Cabin Bold"/>
              </a:rPr>
              <a:t>포트폴리오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94217" y="3536114"/>
            <a:ext cx="7299564" cy="7120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spcBef>
                <a:spcPct val="0"/>
              </a:spcBef>
              <a:defRPr/>
            </a:pPr>
            <a:r>
              <a:rPr lang="en-US" sz="3999">
                <a:solidFill>
                  <a:srgbClr val="475570"/>
                </a:solidFill>
                <a:latin typeface="한컴 윤고딕 760"/>
                <a:ea typeface="한컴 윤고딕 760"/>
                <a:cs typeface="Arial"/>
                <a:sym typeface="Canva Sans"/>
              </a:rPr>
              <a:t>게임서버 신입프로그래머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94217" y="5995236"/>
            <a:ext cx="7299564" cy="79608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6299"/>
              </a:lnSpc>
              <a:spcBef>
                <a:spcPct val="0"/>
              </a:spcBef>
              <a:defRPr/>
            </a:pPr>
            <a:r>
              <a:rPr lang="en-US" sz="4499">
                <a:solidFill>
                  <a:srgbClr val="475570"/>
                </a:solidFill>
                <a:latin typeface="한컴 윤고딕 760"/>
                <a:ea typeface="한컴 윤고딕 760"/>
                <a:cs typeface="Arial"/>
                <a:sym typeface="Canva Sans"/>
              </a:rPr>
              <a:t>황수지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4755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912041" y="6181725"/>
            <a:ext cx="11139585" cy="0"/>
          </a:xfrm>
          <a:prstGeom prst="line">
            <a:avLst/>
          </a:prstGeom>
          <a:ln w="19050" cap="flat">
            <a:solidFill>
              <a:srgbClr val="FCFDF8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60"/>
              <a:ea typeface="한컴 윤고딕 76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912041" y="7208190"/>
            <a:ext cx="11139585" cy="0"/>
          </a:xfrm>
          <a:prstGeom prst="line">
            <a:avLst/>
          </a:prstGeom>
          <a:ln w="19050" cap="flat">
            <a:solidFill>
              <a:srgbClr val="FCFDF8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60"/>
              <a:ea typeface="한컴 윤고딕 76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912041" y="8234656"/>
            <a:ext cx="11139585" cy="0"/>
          </a:xfrm>
          <a:prstGeom prst="line">
            <a:avLst/>
          </a:prstGeom>
          <a:ln w="19050" cap="flat">
            <a:solidFill>
              <a:srgbClr val="FCFDF8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60"/>
              <a:ea typeface="한컴 윤고딕 76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76315" y="1451589"/>
            <a:ext cx="8053485" cy="167261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>
              <a:lnSpc>
                <a:spcPts val="13221"/>
              </a:lnSpc>
              <a:spcBef>
                <a:spcPct val="0"/>
              </a:spcBef>
              <a:defRPr/>
            </a:pPr>
            <a:r>
              <a:rPr lang="en-US" sz="9443" b="1" u="none" strike="noStrike">
                <a:solidFill>
                  <a:srgbClr val="FCFDF8"/>
                </a:solidFill>
                <a:latin typeface="한컴 윤고딕 760"/>
                <a:ea typeface="한컴 윤고딕 760"/>
                <a:cs typeface="Cabin Bold"/>
                <a:sym typeface="Cabin Bold"/>
              </a:rPr>
              <a:t>PROJECTS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23001" y="5383213"/>
            <a:ext cx="8354261" cy="6080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just">
              <a:lnSpc>
                <a:spcPts val="4759"/>
              </a:lnSpc>
              <a:spcBef>
                <a:spcPct val="0"/>
              </a:spcBef>
              <a:defRPr/>
            </a:pPr>
            <a:r>
              <a:rPr lang="en-US" sz="3399">
                <a:solidFill>
                  <a:srgbClr val="FCFDF8"/>
                </a:solidFill>
                <a:latin typeface="한컴 윤고딕 760"/>
                <a:ea typeface="한컴 윤고딕 760"/>
                <a:cs typeface="Canva Sans"/>
                <a:sym typeface="Canva Sans"/>
              </a:rPr>
              <a:t>티유월드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23001" y="6410795"/>
            <a:ext cx="9158572" cy="6091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4759"/>
              </a:lnSpc>
              <a:spcBef>
                <a:spcPct val="0"/>
              </a:spcBef>
              <a:defRPr/>
            </a:pPr>
            <a:r>
              <a:rPr lang="en-US" sz="3399">
                <a:solidFill>
                  <a:srgbClr val="fcfdf8"/>
                </a:solidFill>
                <a:latin typeface="한컴 윤고딕 760"/>
                <a:ea typeface="한컴 윤고딕 760"/>
                <a:cs typeface="Canva Sans"/>
                <a:sym typeface="Canva Sans"/>
              </a:rPr>
              <a:t>BomeGame (제작중)</a:t>
            </a:r>
            <a:endParaRPr lang="en-US" sz="3399">
              <a:solidFill>
                <a:srgbClr val="fcfdf8"/>
              </a:solidFill>
              <a:latin typeface="한컴 윤고딕 760"/>
              <a:ea typeface="한컴 윤고딕 760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23001" y="7438378"/>
            <a:ext cx="8136734" cy="60072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4759"/>
              </a:lnSpc>
              <a:spcBef>
                <a:spcPct val="0"/>
              </a:spcBef>
              <a:defRPr/>
            </a:pPr>
            <a:r>
              <a:rPr lang="en-US" sz="3399">
                <a:solidFill>
                  <a:srgbClr val="FCFDF8"/>
                </a:solidFill>
                <a:latin typeface="한컴 윤고딕 760"/>
                <a:ea typeface="한컴 윤고딕 760"/>
                <a:cs typeface="Canva Sans"/>
                <a:sym typeface="Canva Sans"/>
              </a:rPr>
              <a:t>기타 프로젝트들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12041" y="5260975"/>
            <a:ext cx="1021920" cy="4254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399" b="1">
                <a:solidFill>
                  <a:srgbClr val="FCFDF8"/>
                </a:solidFill>
                <a:latin typeface="한컴 윤고딕 760"/>
                <a:ea typeface="한컴 윤고딕 760"/>
                <a:cs typeface="Canva Sans Medium"/>
                <a:sym typeface="Canva Sans Medium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12041" y="6321895"/>
            <a:ext cx="1021920" cy="4218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399" b="1">
                <a:solidFill>
                  <a:srgbClr val="FCFDF8"/>
                </a:solidFill>
                <a:latin typeface="한컴 윤고딕 760"/>
                <a:ea typeface="한컴 윤고딕 760"/>
                <a:cs typeface="Canva Sans Medium"/>
                <a:sym typeface="Canva Sans Medium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12041" y="7382816"/>
            <a:ext cx="1021920" cy="42768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399" b="1">
                <a:solidFill>
                  <a:srgbClr val="FCFDF8"/>
                </a:solidFill>
                <a:latin typeface="한컴 윤고딕 760"/>
                <a:ea typeface="한컴 윤고딕 760"/>
                <a:cs typeface="Canva Sans Medium"/>
                <a:sym typeface="Canva Sans Medium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c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5762" y="3594010"/>
            <a:ext cx="2211148" cy="5684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개발기간</a:t>
            </a:r>
            <a:endParaRPr lang="en-US" sz="3199" b="1">
              <a:solidFill>
                <a:srgbClr val="475570"/>
              </a:solidFill>
              <a:latin typeface="한컴 윤고딕 740"/>
              <a:ea typeface="한컴 윤고딕 740"/>
              <a:cs typeface="Source Han Sans KR Bold"/>
              <a:sym typeface="Source Han Sans KR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38801" y="1065212"/>
            <a:ext cx="4095199" cy="10588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  <a:defRPr/>
            </a:pPr>
            <a:r>
              <a:rPr lang="en-US" sz="6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7450" y="830263"/>
            <a:ext cx="2313950" cy="35083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762" y="8039100"/>
            <a:ext cx="2211148" cy="5715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개발도구</a:t>
            </a:r>
            <a:endParaRPr lang="en-US" sz="3199" b="1">
              <a:solidFill>
                <a:srgbClr val="475570"/>
              </a:solidFill>
              <a:latin typeface="한컴 윤고딕 740"/>
              <a:ea typeface="한컴 윤고딕 740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85762" y="4421988"/>
            <a:ext cx="2211148" cy="5691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개발인원</a:t>
            </a:r>
            <a:endParaRPr lang="en-US" sz="3199" b="1">
              <a:solidFill>
                <a:srgbClr val="475570"/>
              </a:solidFill>
              <a:latin typeface="한컴 윤고딕 740"/>
              <a:ea typeface="한컴 윤고딕 740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85762" y="5372109"/>
            <a:ext cx="2211148" cy="57149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담당업무</a:t>
            </a:r>
            <a:endParaRPr lang="en-US" sz="3199" b="1">
              <a:solidFill>
                <a:srgbClr val="475570"/>
              </a:solidFill>
              <a:latin typeface="한컴 윤고딕 740"/>
              <a:ea typeface="한컴 윤고딕 740"/>
              <a:cs typeface="Source Han Sans KR Bold"/>
              <a:sym typeface="Source Han Sans K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048858" y="3594010"/>
            <a:ext cx="3629599" cy="5684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24.11 ~ 25.07</a:t>
            </a:r>
            <a:endParaRPr lang="en-US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048858" y="8052374"/>
            <a:ext cx="9377488" cy="56775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C++, MySQL, Unreal5.4</a:t>
            </a:r>
            <a:endParaRPr lang="en-US" sz="3199">
              <a:solidFill>
                <a:srgbClr val="475570"/>
              </a:solidFill>
              <a:highlight>
                <a:srgbClr val="ffff00"/>
              </a:highlight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10" name="AutoShape 10"/>
          <p:cNvSpPr/>
          <p:nvPr/>
        </p:nvSpPr>
        <p:spPr>
          <a:xfrm flipV="1">
            <a:off x="3497805" y="3641635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048858" y="4421988"/>
            <a:ext cx="9027810" cy="5691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3명 (서버 1, 클라이언트1, 모델링1)</a:t>
            </a:r>
            <a:endParaRPr lang="en-US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12" name="AutoShape 12"/>
          <p:cNvSpPr/>
          <p:nvPr/>
        </p:nvSpPr>
        <p:spPr>
          <a:xfrm flipV="1">
            <a:off x="3497805" y="8191500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3" name="AutoShape 13"/>
          <p:cNvSpPr/>
          <p:nvPr/>
        </p:nvSpPr>
        <p:spPr>
          <a:xfrm flipV="1">
            <a:off x="3497805" y="4528001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4" name="AutoShape 14"/>
          <p:cNvSpPr/>
          <p:nvPr/>
        </p:nvSpPr>
        <p:spPr>
          <a:xfrm flipV="1">
            <a:off x="3497805" y="5507315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85120" y="2122714"/>
            <a:ext cx="12128088" cy="5633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한국공학대학교 배경으로 한  MMORPG 게임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48858" y="5372100"/>
            <a:ext cx="11250718" cy="22860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defRPr/>
            </a:pPr>
            <a:r>
              <a:rPr lang="ko-KR" alt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서버 제작 담당 </a:t>
            </a:r>
            <a:r>
              <a:rPr lang="en-US" altLang="ko-KR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(</a:t>
            </a:r>
            <a:r>
              <a:rPr lang="ko-KR" alt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기여 </a:t>
            </a:r>
            <a:r>
              <a:rPr lang="en-US" altLang="ko-KR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: </a:t>
            </a:r>
            <a:r>
              <a:rPr lang="ko-KR" alt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서버 </a:t>
            </a:r>
            <a:r>
              <a:rPr lang="en-US" altLang="ko-KR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100%,</a:t>
            </a:r>
            <a:r>
              <a:rPr lang="ko-KR" alt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클라</a:t>
            </a:r>
            <a:r>
              <a:rPr lang="en-US" altLang="ko-KR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20%)</a:t>
            </a:r>
            <a:endParaRPr lang="en-US" altLang="ko-KR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서버 중심 구조의 게임 로직 구현</a:t>
            </a:r>
            <a:endParaRPr lang="en-US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IOCP 기반 세션 병렬 처리</a:t>
            </a:r>
            <a:endParaRPr lang="en-US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데이터베이스 </a:t>
            </a:r>
            <a:r>
              <a:rPr lang="ko-KR" alt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스키마 </a:t>
            </a: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설계 및 연동</a:t>
            </a:r>
            <a:endParaRPr lang="en-US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23" name="TextBox 5"/>
          <p:cNvSpPr txBox="1"/>
          <p:nvPr/>
        </p:nvSpPr>
        <p:spPr>
          <a:xfrm>
            <a:off x="1285762" y="8801100"/>
            <a:ext cx="2211148" cy="5715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altLang="ko-KR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Git</a:t>
            </a:r>
            <a:endParaRPr lang="en-US" altLang="ko-KR" sz="3199" b="1">
              <a:solidFill>
                <a:srgbClr val="475570"/>
              </a:solidFill>
              <a:latin typeface="한컴 윤고딕 740"/>
              <a:ea typeface="한컴 윤고딕 740"/>
              <a:cs typeface="Source Han Sans KR Bold"/>
              <a:sym typeface="Source Han Sans KR Bold"/>
            </a:endParaRPr>
          </a:p>
        </p:txBody>
      </p:sp>
      <p:sp>
        <p:nvSpPr>
          <p:cNvPr id="24" name="TextBox 9">
            <a:hlinkClick r:id="rId2"/>
          </p:cNvPr>
          <p:cNvSpPr txBox="1"/>
          <p:nvPr/>
        </p:nvSpPr>
        <p:spPr>
          <a:xfrm>
            <a:off x="4048858" y="8814374"/>
            <a:ext cx="9377488" cy="56775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altLang="ko-KR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https://github.com/sungone/GP2025.git</a:t>
            </a:r>
            <a:endParaRPr lang="en-US" altLang="ko-KR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25" name="AutoShape 12"/>
          <p:cNvSpPr/>
          <p:nvPr/>
        </p:nvSpPr>
        <p:spPr>
          <a:xfrm flipV="1">
            <a:off x="3497805" y="8953500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c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76400" y="8877300"/>
            <a:ext cx="9550488" cy="4476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3500"/>
              </a:lnSpc>
              <a:defRPr/>
            </a:pPr>
            <a:r>
              <a:rPr lang="en-US" sz="2500" u="sng">
                <a:solidFill>
                  <a:srgbClr val="475570"/>
                </a:solidFill>
                <a:latin typeface="한컴 윤고딕 720"/>
                <a:ea typeface="한컴 윤고딕 720"/>
                <a:cs typeface="Arimo"/>
                <a:sym typeface="Arimo"/>
                <a:hlinkClick r:id="rId2" tooltip="https://www.youtube.com/watch?v=NkqPZXgjn8c"/>
              </a:rPr>
              <a:t>https://www.youtube.com/watch?v=NkqPZXgjn8c</a:t>
            </a:r>
            <a:endParaRPr lang="en-US" sz="2500" u="sng">
              <a:solidFill>
                <a:srgbClr val="475570"/>
              </a:solidFill>
              <a:latin typeface="한컴 윤고딕 720"/>
              <a:ea typeface="한컴 윤고딕 720"/>
              <a:cs typeface="Arimo"/>
              <a:sym typeface="Arimo"/>
            </a:endParaRPr>
          </a:p>
        </p:txBody>
      </p:sp>
      <p:pic>
        <p:nvPicPr>
          <p:cNvPr id="6" name="NkqPZXgjn8c">
            <a:hlinkClick r:id="" action="ppaction://media"/>
          </p:cNvPr>
          <p:cNvPicPr>
            <a:picLocks noRot="1" noChangeAspect="1"/>
          </p:cNvPicPr>
          <p:nvPr>
            <a:videoFile r:link="rId3"/>
          </p:nvPr>
        </p:nvPicPr>
        <p:blipFill rotWithShape="1">
          <a:blip r:embed="rId4"/>
          <a:stretch>
            <a:fillRect/>
          </a:stretch>
        </p:blipFill>
        <p:spPr>
          <a:xfrm>
            <a:off x="1143000" y="2238374"/>
            <a:ext cx="8648701" cy="6486526"/>
          </a:xfrm>
          <a:prstGeom prst="rect">
            <a:avLst/>
          </a:prstGeom>
        </p:spPr>
      </p:pic>
      <p:sp>
        <p:nvSpPr>
          <p:cNvPr id="9" name="TextBox 16"/>
          <p:cNvSpPr txBox="1"/>
          <p:nvPr/>
        </p:nvSpPr>
        <p:spPr>
          <a:xfrm>
            <a:off x="10197524" y="2324099"/>
            <a:ext cx="7328476" cy="627697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defRPr/>
            </a:pP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한국공학대학교를 배경으로 몬스터를 잡고</a:t>
            </a:r>
            <a:endParaRPr lang="ko-KR" altLang="en-US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퀘스트를 풀면서 학교의 미스터리를 해결하는 MMORPG</a:t>
            </a:r>
            <a:endParaRPr lang="ko-KR" altLang="en-US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endParaRPr lang="ko-KR" altLang="en-US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퀘스트: 총 </a:t>
            </a:r>
            <a:r>
              <a:rPr lang="en-US" altLang="ko-KR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18</a:t>
            </a: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개</a:t>
            </a:r>
            <a:endParaRPr lang="en-US" altLang="ko-KR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en-US" altLang="ko-KR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(</a:t>
            </a: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튜토리얼 퀘스트 4개</a:t>
            </a:r>
            <a:r>
              <a:rPr lang="en-US" altLang="ko-KR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+ </a:t>
            </a: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메인 퀘스트 14개</a:t>
            </a:r>
            <a:r>
              <a:rPr lang="en-US" altLang="ko-KR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)</a:t>
            </a:r>
            <a:endParaRPr lang="en-US" altLang="ko-KR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endParaRPr lang="ko-KR" altLang="en-US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몬스터: 10종 (보스 몬스터 포함)</a:t>
            </a:r>
            <a:endParaRPr lang="ko-KR" altLang="en-US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인던: 3곳 (학교 건물 4개 중 3곳이 전투 던전, 1곳은 상점)</a:t>
            </a:r>
            <a:endParaRPr lang="ko-KR" altLang="en-US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아이템: 23종 (무기/방어구/소모품 등)</a:t>
            </a:r>
            <a:endParaRPr lang="ko-KR" altLang="en-US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캐릭터</a:t>
            </a:r>
            <a:r>
              <a:rPr lang="en-US" altLang="ko-KR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:</a:t>
            </a: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altLang="ko-KR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2</a:t>
            </a: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종</a:t>
            </a:r>
            <a:endParaRPr lang="ko-KR" altLang="en-US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defRPr/>
            </a:pP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스킬: </a:t>
            </a:r>
            <a:r>
              <a:rPr lang="en-US" altLang="ko-KR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6</a:t>
            </a:r>
            <a:r>
              <a:rPr lang="ko-KR" altLang="en-US" sz="24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종</a:t>
            </a:r>
            <a:endParaRPr lang="ko-KR" altLang="en-US" sz="240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107" y="695325"/>
            <a:ext cx="307849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4760" y="450850"/>
            <a:ext cx="1501502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94411" y="3236852"/>
            <a:ext cx="13984620" cy="518263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999"/>
              </a:lnSpc>
              <a:defRPr/>
            </a:pPr>
            <a:r>
              <a:rPr lang="en-US" sz="3199" b="1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문제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</a:t>
            </a:r>
            <a:r>
              <a:rPr lang="ko-KR" alt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CPU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과부하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,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지연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증가</a:t>
            </a: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7999"/>
              </a:lnSpc>
              <a:defRPr/>
            </a:pPr>
            <a:r>
              <a:rPr lang="en-US" sz="3199" b="1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해결</a:t>
            </a:r>
            <a:r>
              <a:rPr lang="en-US" sz="3199" b="1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 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</a:p>
          <a:p>
            <a:pPr lvl="0" algn="l">
              <a:lnSpc>
                <a:spcPts val="4799"/>
              </a:lnSpc>
              <a:defRPr/>
            </a:pP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799"/>
              </a:lnSpc>
              <a:defRPr/>
            </a:pP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7999"/>
              </a:lnSpc>
              <a:defRPr/>
            </a:pP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7999"/>
              </a:lnSpc>
              <a:defRPr/>
            </a:pPr>
            <a:r>
              <a:rPr lang="en-US" sz="3199" b="1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결과</a:t>
            </a:r>
            <a:r>
              <a:rPr lang="en-US" sz="3199" b="1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 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서버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안정성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향상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,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확장성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확보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</a:t>
            </a:r>
            <a:r>
              <a:rPr lang="en-US" sz="3199" dirty="0">
                <a:solidFill>
                  <a:srgbClr val="475570"/>
                </a:solidFill>
                <a:highlight>
                  <a:srgbClr val="FFFF00"/>
                </a:highlight>
                <a:latin typeface="한컴 윤고딕 740"/>
                <a:ea typeface="한컴 윤고딕 740"/>
                <a:cs typeface="Source Han Sans KR"/>
                <a:sym typeface="Source Han Sans KR"/>
              </a:rPr>
              <a:t>(</a:t>
            </a:r>
            <a:r>
              <a:rPr lang="ko-KR" altLang="en-US" sz="3199" dirty="0">
                <a:solidFill>
                  <a:srgbClr val="475570"/>
                </a:solidFill>
                <a:highlight>
                  <a:srgbClr val="FFFF00"/>
                </a:highlight>
                <a:latin typeface="한컴 윤고딕 740"/>
                <a:ea typeface="한컴 윤고딕 740"/>
                <a:cs typeface="Source Han Sans KR"/>
                <a:sym typeface="Source Han Sans KR"/>
              </a:rPr>
              <a:t>적용전과 적용후의 </a:t>
            </a:r>
            <a:r>
              <a:rPr lang="ko-KR" altLang="en-US" sz="3199" dirty="0" err="1">
                <a:solidFill>
                  <a:srgbClr val="475570"/>
                </a:solidFill>
                <a:highlight>
                  <a:srgbClr val="FFFF00"/>
                </a:highlight>
                <a:latin typeface="한컴 윤고딕 740"/>
                <a:ea typeface="한컴 윤고딕 740"/>
                <a:cs typeface="Source Han Sans KR"/>
                <a:sym typeface="Source Han Sans KR"/>
              </a:rPr>
              <a:t>동접</a:t>
            </a:r>
            <a:r>
              <a:rPr lang="ko-KR" altLang="en-US" sz="3199" dirty="0">
                <a:solidFill>
                  <a:srgbClr val="475570"/>
                </a:solidFill>
                <a:highlight>
                  <a:srgbClr val="FFFF00"/>
                </a:highlight>
                <a:latin typeface="한컴 윤고딕 740"/>
                <a:ea typeface="한컴 윤고딕 740"/>
                <a:cs typeface="Source Han Sans KR"/>
                <a:sym typeface="Source Han Sans KR"/>
              </a:rPr>
              <a:t> 비교 표</a:t>
            </a:r>
            <a:r>
              <a:rPr lang="en-US" altLang="ko-KR" sz="3199" dirty="0">
                <a:solidFill>
                  <a:srgbClr val="475570"/>
                </a:solidFill>
                <a:highlight>
                  <a:srgbClr val="FFFF00"/>
                </a:highlight>
                <a:latin typeface="한컴 윤고딕 740"/>
                <a:ea typeface="한컴 윤고딕 740"/>
                <a:cs typeface="Source Han Sans KR"/>
                <a:sym typeface="Source Han Sans KR"/>
              </a:rPr>
              <a:t>)</a:t>
            </a:r>
            <a:endParaRPr lang="en-US" sz="3199" dirty="0">
              <a:solidFill>
                <a:srgbClr val="475570"/>
              </a:solidFill>
              <a:highlight>
                <a:srgbClr val="FFFF00"/>
              </a:highlight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94412" y="2263589"/>
            <a:ext cx="5782478" cy="87966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40"/>
                <a:ea typeface="한컴 윤고딕 740"/>
                <a:cs typeface="Canva Sans Bold"/>
                <a:sym typeface="Canva Sans Bold"/>
              </a:rPr>
              <a:t>대규모 씬 최적화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26980" y="4399593"/>
            <a:ext cx="13984620" cy="2429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90876" lvl="1" indent="-345438" algn="l">
              <a:lnSpc>
                <a:spcPts val="6399"/>
              </a:lnSpc>
              <a:buFont typeface="Arial"/>
              <a:buChar char="•"/>
              <a:defRPr/>
            </a:pPr>
            <a:r>
              <a:rPr lang="ko-KR" alt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멀티쓰레드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IOCP로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I/O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병렬화</a:t>
            </a: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marL="690876" lvl="1" indent="-345438" algn="l">
              <a:lnSpc>
                <a:spcPts val="6399"/>
              </a:lnSpc>
              <a:buFont typeface="Arial"/>
              <a:buChar char="•"/>
              <a:defRPr/>
            </a:pP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그리드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+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ViewList로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전송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범위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축소</a:t>
            </a: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marL="690876" lvl="1" indent="-345438" algn="l">
              <a:lnSpc>
                <a:spcPts val="6399"/>
              </a:lnSpc>
              <a:buFont typeface="Arial"/>
              <a:buChar char="•"/>
              <a:defRPr/>
            </a:pP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채널링으로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접속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분할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,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세션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/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이벤트를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채널별로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스코프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제한</a:t>
            </a: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63011" y="1179512"/>
            <a:ext cx="10361979" cy="7068650"/>
          </a:xfrm>
          <a:custGeom>
            <a:avLst/>
            <a:gdLst/>
            <a:ahLst/>
            <a:cxnLst/>
            <a:rect l="l" t="t" r="r" b="b"/>
            <a:pathLst>
              <a:path w="10361979" h="7068650">
                <a:moveTo>
                  <a:pt x="0" y="0"/>
                </a:moveTo>
                <a:lnTo>
                  <a:pt x="10361978" y="0"/>
                </a:lnTo>
                <a:lnTo>
                  <a:pt x="10361978" y="7068650"/>
                </a:lnTo>
                <a:lnTo>
                  <a:pt x="0" y="7068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90" b="-481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2498764" y="8406565"/>
            <a:ext cx="13290473" cy="1137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479"/>
              </a:lnSpc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비동기적으로 발생하는 IOCP 완료 이벤트를</a:t>
            </a:r>
          </a:p>
          <a:p>
            <a:pPr lvl="0" algn="ctr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CompType(세션 연결·데이터 수신·송신)별로 워커풀에서 병렬 처리</a:t>
            </a:r>
          </a:p>
        </p:txBody>
      </p:sp>
      <p:sp>
        <p:nvSpPr>
          <p:cNvPr id="6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7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0290" y="1179512"/>
            <a:ext cx="9587419" cy="7430250"/>
          </a:xfrm>
          <a:custGeom>
            <a:avLst/>
            <a:gdLst/>
            <a:ahLst/>
            <a:cxnLst/>
            <a:rect l="l" t="t" r="r" b="b"/>
            <a:pathLst>
              <a:path w="9587419" h="7430250">
                <a:moveTo>
                  <a:pt x="0" y="0"/>
                </a:moveTo>
                <a:lnTo>
                  <a:pt x="9587420" y="0"/>
                </a:lnTo>
                <a:lnTo>
                  <a:pt x="9587420" y="7430250"/>
                </a:lnTo>
                <a:lnTo>
                  <a:pt x="0" y="7430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>
              <a:latin typeface="한컴 윤고딕 760"/>
              <a:ea typeface="한컴 윤고딕 76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59149" y="8922715"/>
            <a:ext cx="14369702" cy="5641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섹터 기반 ViewList로 인접 객체만 전송</a:t>
            </a:r>
          </a:p>
        </p:txBody>
      </p:sp>
      <p:sp>
        <p:nvSpPr>
          <p:cNvPr id="6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7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16356" y="1876938"/>
            <a:ext cx="8855288" cy="6533125"/>
          </a:xfrm>
          <a:custGeom>
            <a:avLst/>
            <a:gdLst/>
            <a:ahLst/>
            <a:cxnLst/>
            <a:rect l="l" t="t" r="r" b="b"/>
            <a:pathLst>
              <a:path w="8855288" h="6533125">
                <a:moveTo>
                  <a:pt x="0" y="0"/>
                </a:moveTo>
                <a:lnTo>
                  <a:pt x="8855288" y="0"/>
                </a:lnTo>
                <a:lnTo>
                  <a:pt x="8855288" y="6533124"/>
                </a:lnTo>
                <a:lnTo>
                  <a:pt x="0" y="653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927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493732" y="8724900"/>
            <a:ext cx="15300536" cy="53713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GameWorldManager에서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ko-KR" alt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부하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기반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채널링으로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ko-KR" alt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부하 상황을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주기적으로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갱신·공지</a:t>
            </a: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7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3588" y="2522422"/>
            <a:ext cx="7548532" cy="5201123"/>
          </a:xfrm>
          <a:custGeom>
            <a:avLst/>
            <a:gdLst/>
            <a:ahLst/>
            <a:cxnLst/>
            <a:rect l="l" t="t" r="r" b="b"/>
            <a:pathLst>
              <a:path w="7548532" h="5201123">
                <a:moveTo>
                  <a:pt x="0" y="0"/>
                </a:moveTo>
                <a:lnTo>
                  <a:pt x="7548532" y="0"/>
                </a:lnTo>
                <a:lnTo>
                  <a:pt x="7548532" y="5201123"/>
                </a:lnTo>
                <a:lnTo>
                  <a:pt x="0" y="5201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9235683" y="2522422"/>
            <a:ext cx="7578729" cy="5242156"/>
          </a:xfrm>
          <a:custGeom>
            <a:avLst/>
            <a:gdLst/>
            <a:ahLst/>
            <a:cxnLst/>
            <a:rect l="l" t="t" r="r" b="b"/>
            <a:pathLst>
              <a:path w="7578729" h="5242156">
                <a:moveTo>
                  <a:pt x="0" y="0"/>
                </a:moveTo>
                <a:lnTo>
                  <a:pt x="7578729" y="0"/>
                </a:lnTo>
                <a:lnTo>
                  <a:pt x="7578729" y="5242156"/>
                </a:lnTo>
                <a:lnTo>
                  <a:pt x="0" y="5242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3183129" y="8231798"/>
            <a:ext cx="11921740" cy="5693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게임 입장 시 선택 채널 처리 &amp; 게임 중 채널 변경 처리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8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224586" y="4285395"/>
            <a:ext cx="16670630" cy="49774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999"/>
              </a:lnSpc>
              <a:defRPr/>
            </a:pPr>
            <a:r>
              <a:rPr lang="en-US" sz="3199" b="1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문제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하드코딩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스폰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/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전환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좌표는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맵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구조가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바뀔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때마다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충돌·위치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오류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발생</a:t>
            </a: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7999"/>
              </a:lnSpc>
              <a:defRPr/>
            </a:pPr>
            <a:r>
              <a:rPr lang="en-US" sz="3199" b="1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해결</a:t>
            </a:r>
            <a:r>
              <a:rPr lang="en-US" sz="3199" b="1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 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</a:t>
            </a:r>
            <a:r>
              <a:rPr lang="ko-KR" alt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언리얼에서</a:t>
            </a:r>
            <a:r>
              <a:rPr lang="ko-KR" alt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추출한 </a:t>
            </a:r>
            <a:r>
              <a:rPr lang="en-US" altLang="ko-KR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NavMesh</a:t>
            </a:r>
            <a:r>
              <a:rPr lang="ko-KR" alt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를 서버에서 로딩해서 충돌검사 및 </a:t>
            </a:r>
            <a:r>
              <a:rPr lang="ko-KR" alt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길찾기에</a:t>
            </a:r>
            <a:r>
              <a:rPr lang="ko-KR" alt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사용</a:t>
            </a:r>
            <a:r>
              <a:rPr lang="en-US" altLang="ko-KR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. </a:t>
            </a:r>
          </a:p>
          <a:p>
            <a:pPr lvl="0" algn="l">
              <a:lnSpc>
                <a:spcPts val="7999"/>
              </a:lnSpc>
              <a:defRPr/>
            </a:pP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         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존·게이트마다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NavMesh에서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좌표를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자동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계산하도록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통합</a:t>
            </a: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7999"/>
              </a:lnSpc>
              <a:defRPr/>
            </a:pPr>
            <a:r>
              <a:rPr lang="en-US" sz="3199" b="1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결과</a:t>
            </a:r>
            <a:r>
              <a:rPr lang="en-US" sz="3199" b="1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 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맵을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수정해도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ko-KR" alt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서버에 즉시 반영하여</a:t>
            </a:r>
            <a:r>
              <a:rPr lang="en-US" altLang="ko-KR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,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안전하게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배치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가능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,</a:t>
            </a:r>
          </a:p>
          <a:p>
            <a:pPr lvl="0" algn="l">
              <a:lnSpc>
                <a:spcPts val="7999"/>
              </a:lnSpc>
              <a:defRPr/>
            </a:pP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         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클라이언트와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31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항상</a:t>
            </a:r>
            <a:r>
              <a:rPr 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ko-KR" altLang="en-US" sz="31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지형 일치</a:t>
            </a:r>
            <a:endParaRPr lang="en-US" sz="31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24586" y="3015122"/>
            <a:ext cx="9940198" cy="88060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40"/>
                <a:ea typeface="한컴 윤고딕 740"/>
                <a:cs typeface="Canva Sans Bold"/>
                <a:sym typeface="Canva Sans Bold"/>
              </a:rPr>
              <a:t>NavMesh 기반 스폰·길찾기·맵전환</a:t>
            </a:r>
          </a:p>
        </p:txBody>
      </p:sp>
      <p:sp>
        <p:nvSpPr>
          <p:cNvPr id="6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7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37460" y="3456235"/>
            <a:ext cx="12068066" cy="5281906"/>
          </a:xfrm>
          <a:custGeom>
            <a:avLst/>
            <a:gdLst/>
            <a:ahLst/>
            <a:cxnLst/>
            <a:rect l="l" t="t" r="r" b="b"/>
            <a:pathLst>
              <a:path w="12068066" h="5281906">
                <a:moveTo>
                  <a:pt x="0" y="0"/>
                </a:moveTo>
                <a:lnTo>
                  <a:pt x="12068065" y="0"/>
                </a:lnTo>
                <a:lnTo>
                  <a:pt x="12068065" y="5281906"/>
                </a:lnTo>
                <a:lnTo>
                  <a:pt x="0" y="5281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4" t="-52132" r="-63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4324535" y="800100"/>
            <a:ext cx="8893914" cy="2127992"/>
          </a:xfrm>
          <a:custGeom>
            <a:avLst/>
            <a:gdLst/>
            <a:ahLst/>
            <a:cxnLst/>
            <a:rect l="l" t="t" r="r" b="b"/>
            <a:pathLst>
              <a:path w="8893914" h="2127992">
                <a:moveTo>
                  <a:pt x="0" y="0"/>
                </a:moveTo>
                <a:lnTo>
                  <a:pt x="8893915" y="0"/>
                </a:lnTo>
                <a:lnTo>
                  <a:pt x="8893915" y="2127992"/>
                </a:lnTo>
                <a:lnTo>
                  <a:pt x="0" y="2127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929635" y="8690516"/>
            <a:ext cx="13683713" cy="113928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479"/>
              </a:lnSpc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서버에서 JSON파일 파싱 및 서버용 NavMesh 빌드</a:t>
            </a:r>
          </a:p>
          <a:p>
            <a:pPr lvl="0" algn="ctr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NavMesh 기반 A* 알고리즘으로 폴리곤 중심 경로 탐색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65649" y="2880467"/>
            <a:ext cx="7811685" cy="56758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언리얼에서 NavMesh를 JSON으로 추출</a:t>
            </a:r>
          </a:p>
        </p:txBody>
      </p:sp>
      <p:sp>
        <p:nvSpPr>
          <p:cNvPr id="8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4586" y="1974503"/>
            <a:ext cx="7173257" cy="1896783"/>
          </a:xfrm>
          <a:custGeom>
            <a:avLst/>
            <a:gdLst/>
            <a:ahLst/>
            <a:cxnLst/>
            <a:rect l="l" t="t" r="r" b="b"/>
            <a:pathLst>
              <a:path w="7173257" h="1896783">
                <a:moveTo>
                  <a:pt x="0" y="0"/>
                </a:moveTo>
                <a:lnTo>
                  <a:pt x="7173257" y="0"/>
                </a:lnTo>
                <a:lnTo>
                  <a:pt x="7173257" y="1896783"/>
                </a:lnTo>
                <a:lnTo>
                  <a:pt x="0" y="1896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2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224586" y="4030728"/>
            <a:ext cx="7173257" cy="5835102"/>
          </a:xfrm>
          <a:custGeom>
            <a:avLst/>
            <a:gdLst/>
            <a:ahLst/>
            <a:cxnLst/>
            <a:rect l="l" t="t" r="r" b="b"/>
            <a:pathLst>
              <a:path w="7173257" h="5835102">
                <a:moveTo>
                  <a:pt x="0" y="0"/>
                </a:moveTo>
                <a:lnTo>
                  <a:pt x="7173257" y="0"/>
                </a:lnTo>
                <a:lnTo>
                  <a:pt x="7173257" y="5835102"/>
                </a:lnTo>
                <a:lnTo>
                  <a:pt x="0" y="5835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137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9144000" y="4269110"/>
            <a:ext cx="7620000" cy="11410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4479"/>
              </a:lnSpc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NavMesh 활용 ①</a:t>
            </a:r>
          </a:p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: 스폰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5911880"/>
            <a:ext cx="6495720" cy="5651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플레이어/몬스터 스폰 위치 설정</a:t>
            </a:r>
          </a:p>
        </p:txBody>
      </p:sp>
      <p:sp>
        <p:nvSpPr>
          <p:cNvPr id="8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99260"/>
            <a:ext cx="8921584" cy="7766489"/>
          </a:xfrm>
          <a:custGeom>
            <a:avLst/>
            <a:gdLst/>
            <a:ahLst/>
            <a:cxnLst/>
            <a:rect l="l" t="t" r="r" b="b"/>
            <a:pathLst>
              <a:path w="8921584" h="7766489">
                <a:moveTo>
                  <a:pt x="0" y="0"/>
                </a:moveTo>
                <a:lnTo>
                  <a:pt x="8921584" y="0"/>
                </a:lnTo>
                <a:lnTo>
                  <a:pt x="8921584" y="7766490"/>
                </a:lnTo>
                <a:lnTo>
                  <a:pt x="0" y="7766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0406548" y="4075679"/>
            <a:ext cx="6266416" cy="113449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>
              <a:lnSpc>
                <a:spcPts val="4479"/>
              </a:lnSpc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NavMesh 활용 ②</a:t>
            </a:r>
          </a:p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: 길찾기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06548" y="5635400"/>
            <a:ext cx="3705820" cy="5653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몬스터 플레이어 쫓기 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8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4586" y="2134752"/>
            <a:ext cx="9652331" cy="6933795"/>
          </a:xfrm>
          <a:custGeom>
            <a:avLst/>
            <a:gdLst/>
            <a:ahLst/>
            <a:cxnLst/>
            <a:rect l="l" t="t" r="r" b="b"/>
            <a:pathLst>
              <a:path w="9652331" h="6933795">
                <a:moveTo>
                  <a:pt x="0" y="0"/>
                </a:moveTo>
                <a:lnTo>
                  <a:pt x="9652331" y="0"/>
                </a:lnTo>
                <a:lnTo>
                  <a:pt x="9652331" y="6933795"/>
                </a:lnTo>
                <a:lnTo>
                  <a:pt x="0" y="6933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1267484" y="4049539"/>
            <a:ext cx="4566617" cy="11415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>
              <a:lnSpc>
                <a:spcPts val="4479"/>
              </a:lnSpc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NavMesh 활용 ③</a:t>
            </a:r>
          </a:p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: 전환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67484" y="5661540"/>
            <a:ext cx="3444806" cy="5678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맵 전환 시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8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224586" y="4275873"/>
            <a:ext cx="17520614" cy="303932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8000"/>
              </a:lnSpc>
              <a:defRPr/>
            </a:pPr>
            <a:r>
              <a:rPr lang="en-US" sz="3200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문제</a:t>
            </a:r>
            <a:r>
              <a:rPr lang="en-US" sz="32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 하드코딩/스프레드시트 의존으로 빌드 반복·값 불일치 발생.</a:t>
            </a:r>
          </a:p>
          <a:p>
            <a:pPr lvl="0" algn="l">
              <a:lnSpc>
                <a:spcPts val="8000"/>
              </a:lnSpc>
              <a:defRPr/>
            </a:pPr>
            <a:r>
              <a:rPr lang="en-US" sz="3200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해결 </a:t>
            </a:r>
            <a:r>
              <a:rPr lang="en-US" sz="32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CSV 스키마 표준화 + 로더(검증/인덱싱) + 읽기 전용 API로 데이터/로직 분리</a:t>
            </a:r>
          </a:p>
          <a:p>
            <a:pPr lvl="0" algn="l">
              <a:lnSpc>
                <a:spcPts val="8000"/>
              </a:lnSpc>
              <a:defRPr/>
            </a:pPr>
            <a:r>
              <a:rPr lang="en-US" sz="3200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결과 </a:t>
            </a:r>
            <a:r>
              <a:rPr lang="en-US" sz="32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 밸런스 수정 무빌드 반영, 신규 퀘스트/몬스터 추가 가능, 서버·클라 동일 데이터 유지.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4586" y="3015123"/>
            <a:ext cx="8664802" cy="8806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40"/>
                <a:ea typeface="한컴 윤고딕 740"/>
                <a:cs typeface="Canva Sans Bold"/>
                <a:sym typeface="Canva Sans Bold"/>
              </a:rPr>
              <a:t>CSV 기반 콘텐츠 파이프라인</a:t>
            </a:r>
          </a:p>
        </p:txBody>
      </p:sp>
      <p:sp>
        <p:nvSpPr>
          <p:cNvPr id="6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7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40831" y="2754311"/>
            <a:ext cx="6142124" cy="2932864"/>
          </a:xfrm>
          <a:custGeom>
            <a:avLst/>
            <a:gdLst/>
            <a:ahLst/>
            <a:cxnLst/>
            <a:rect l="l" t="t" r="r" b="b"/>
            <a:pathLst>
              <a:path w="6142124" h="2932864">
                <a:moveTo>
                  <a:pt x="0" y="0"/>
                </a:moveTo>
                <a:lnTo>
                  <a:pt x="6142124" y="0"/>
                </a:lnTo>
                <a:lnTo>
                  <a:pt x="6142124" y="2932865"/>
                </a:lnTo>
                <a:lnTo>
                  <a:pt x="0" y="2932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8474509" y="2754311"/>
            <a:ext cx="7299024" cy="2928734"/>
          </a:xfrm>
          <a:custGeom>
            <a:avLst/>
            <a:gdLst/>
            <a:ahLst/>
            <a:cxnLst/>
            <a:rect l="l" t="t" r="r" b="b"/>
            <a:pathLst>
              <a:path w="7299024" h="2928734">
                <a:moveTo>
                  <a:pt x="0" y="0"/>
                </a:moveTo>
                <a:lnTo>
                  <a:pt x="7299024" y="0"/>
                </a:lnTo>
                <a:lnTo>
                  <a:pt x="7299024" y="2928734"/>
                </a:lnTo>
                <a:lnTo>
                  <a:pt x="0" y="2928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678258" y="1866900"/>
            <a:ext cx="14931482" cy="5715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컨텐츠는 CSV 스키마로 관리 (플레이어/몬스터/아이템/퀘스트)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40831" y="5658601"/>
            <a:ext cx="2173685" cy="34214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ItemTable.csv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74510" y="5654470"/>
            <a:ext cx="2379312" cy="3367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660"/>
              </a:lnSpc>
              <a:spcBef>
                <a:spcPct val="0"/>
              </a:spcBef>
              <a:defRPr/>
            </a:pPr>
            <a:r>
              <a:rPr lang="en-US" sz="190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QuestTable.csv</a:t>
            </a:r>
          </a:p>
        </p:txBody>
      </p:sp>
      <p:sp>
        <p:nvSpPr>
          <p:cNvPr id="9" name="Freeform 9"/>
          <p:cNvSpPr/>
          <p:nvPr/>
        </p:nvSpPr>
        <p:spPr>
          <a:xfrm>
            <a:off x="4986268" y="6358684"/>
            <a:ext cx="8315464" cy="2964425"/>
          </a:xfrm>
          <a:custGeom>
            <a:avLst/>
            <a:gdLst/>
            <a:ahLst/>
            <a:cxnLst/>
            <a:rect l="l" t="t" r="r" b="b"/>
            <a:pathLst>
              <a:path w="8315464" h="2964425">
                <a:moveTo>
                  <a:pt x="0" y="0"/>
                </a:moveTo>
                <a:lnTo>
                  <a:pt x="8315464" y="0"/>
                </a:lnTo>
                <a:lnTo>
                  <a:pt x="8315464" y="2964426"/>
                </a:lnTo>
                <a:lnTo>
                  <a:pt x="0" y="2964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167878" y="9258300"/>
            <a:ext cx="5952241" cy="5715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부팅 시 테이블 일괄 로드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12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4760" y="4961357"/>
            <a:ext cx="7384527" cy="2283781"/>
          </a:xfrm>
          <a:custGeom>
            <a:avLst/>
            <a:gdLst/>
            <a:ahLst/>
            <a:cxnLst/>
            <a:rect l="l" t="t" r="r" b="b"/>
            <a:pathLst>
              <a:path w="7384527" h="2283781">
                <a:moveTo>
                  <a:pt x="0" y="0"/>
                </a:moveTo>
                <a:lnTo>
                  <a:pt x="7384527" y="0"/>
                </a:lnTo>
                <a:lnTo>
                  <a:pt x="7384527" y="2283781"/>
                </a:lnTo>
                <a:lnTo>
                  <a:pt x="0" y="2283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865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654760" y="2452446"/>
            <a:ext cx="7720736" cy="2292515"/>
          </a:xfrm>
          <a:custGeom>
            <a:avLst/>
            <a:gdLst/>
            <a:ahLst/>
            <a:cxnLst/>
            <a:rect l="l" t="t" r="r" b="b"/>
            <a:pathLst>
              <a:path w="7720736" h="2292515">
                <a:moveTo>
                  <a:pt x="0" y="0"/>
                </a:moveTo>
                <a:lnTo>
                  <a:pt x="7720737" y="0"/>
                </a:lnTo>
                <a:lnTo>
                  <a:pt x="7720737" y="2292516"/>
                </a:lnTo>
                <a:lnTo>
                  <a:pt x="0" y="2292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r="-568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8008653" y="2401155"/>
            <a:ext cx="9969307" cy="3356452"/>
          </a:xfrm>
          <a:custGeom>
            <a:avLst/>
            <a:gdLst/>
            <a:ahLst/>
            <a:cxnLst/>
            <a:rect l="l" t="t" r="r" b="b"/>
            <a:pathLst>
              <a:path w="9969307" h="3356452">
                <a:moveTo>
                  <a:pt x="0" y="0"/>
                </a:moveTo>
                <a:lnTo>
                  <a:pt x="9969307" y="0"/>
                </a:lnTo>
                <a:lnTo>
                  <a:pt x="9969307" y="3356453"/>
                </a:lnTo>
                <a:lnTo>
                  <a:pt x="0" y="335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02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8039287" y="5757608"/>
            <a:ext cx="8113011" cy="2128237"/>
          </a:xfrm>
          <a:custGeom>
            <a:avLst/>
            <a:gdLst/>
            <a:ahLst/>
            <a:cxnLst/>
            <a:rect l="l" t="t" r="r" b="b"/>
            <a:pathLst>
              <a:path w="8113011" h="2128237">
                <a:moveTo>
                  <a:pt x="0" y="0"/>
                </a:moveTo>
                <a:lnTo>
                  <a:pt x="8113012" y="0"/>
                </a:lnTo>
                <a:lnTo>
                  <a:pt x="8113012" y="2128237"/>
                </a:lnTo>
                <a:lnTo>
                  <a:pt x="0" y="2128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4576507" y="8267700"/>
            <a:ext cx="9134986" cy="5715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서버에서 유효성 검사 &amp; 인덱싱을 수행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626111" y="695325"/>
            <a:ext cx="4098289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티유월드</a:t>
            </a:r>
          </a:p>
        </p:txBody>
      </p:sp>
      <p:sp>
        <p:nvSpPr>
          <p:cNvPr id="10" name="TextBox 3"/>
          <p:cNvSpPr txBox="1"/>
          <p:nvPr/>
        </p:nvSpPr>
        <p:spPr>
          <a:xfrm>
            <a:off x="654760" y="450850"/>
            <a:ext cx="1998893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c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5120" y="3594010"/>
            <a:ext cx="2039740" cy="56841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개발기간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8801" y="1065212"/>
            <a:ext cx="7001106" cy="105886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  <a:defRPr/>
            </a:pPr>
            <a:r>
              <a:rPr lang="en-US" sz="6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BombGame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7450" y="830263"/>
            <a:ext cx="1780550" cy="35083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120" y="4251991"/>
            <a:ext cx="2039740" cy="56765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개발도구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5120" y="4945863"/>
            <a:ext cx="2039740" cy="56911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개발인원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4075" y="5731239"/>
            <a:ext cx="2039740" cy="5647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담당업무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77723" y="3594010"/>
            <a:ext cx="3348234" cy="56841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25.05 ~ 06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77722" y="4251991"/>
            <a:ext cx="8650548" cy="56765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altLang="ko-KR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C++, </a:t>
            </a: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Unreal5.5</a:t>
            </a:r>
            <a:endParaRPr lang="en-US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10" name="AutoShape 10"/>
          <p:cNvSpPr/>
          <p:nvPr/>
        </p:nvSpPr>
        <p:spPr>
          <a:xfrm flipV="1">
            <a:off x="3497805" y="3641635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77723" y="4945863"/>
            <a:ext cx="8327978" cy="56911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1명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3497805" y="4328810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3" name="AutoShape 13"/>
          <p:cNvSpPr/>
          <p:nvPr/>
        </p:nvSpPr>
        <p:spPr>
          <a:xfrm flipV="1">
            <a:off x="3497805" y="5051876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4" name="AutoShape 14"/>
          <p:cNvSpPr/>
          <p:nvPr/>
        </p:nvSpPr>
        <p:spPr>
          <a:xfrm flipV="1">
            <a:off x="3500602" y="5866445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85120" y="2122714"/>
            <a:ext cx="11187924" cy="5633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폭탄 던지기 게임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7723" y="5731230"/>
            <a:ext cx="8461328" cy="170779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defRPr/>
            </a:pPr>
            <a:r>
              <a:rPr 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(제작중)</a:t>
            </a:r>
            <a:endParaRPr lang="ko-KR" altLang="en-US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altLang="ko-KR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Boost.Asio </a:t>
            </a:r>
            <a:r>
              <a:rPr lang="ko-KR" alt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기반</a:t>
            </a:r>
            <a:endParaRPr lang="ko-KR" altLang="en-US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altLang="ko-KR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CMake </a:t>
            </a:r>
            <a:r>
              <a:rPr lang="ko-KR" altLang="en-US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환경 설정</a:t>
            </a:r>
            <a:endParaRPr lang="ko-KR" altLang="en-US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21" name="TextBox 5"/>
          <p:cNvSpPr txBox="1"/>
          <p:nvPr/>
        </p:nvSpPr>
        <p:spPr>
          <a:xfrm>
            <a:off x="1267450" y="9182100"/>
            <a:ext cx="2211148" cy="5715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4479"/>
              </a:lnSpc>
              <a:spcBef>
                <a:spcPct val="0"/>
              </a:spcBef>
              <a:defRPr/>
            </a:pPr>
            <a:r>
              <a:rPr lang="en-US" altLang="ko-KR" sz="31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Git</a:t>
            </a:r>
            <a:endParaRPr lang="en-US" altLang="ko-KR" sz="3199" b="1">
              <a:solidFill>
                <a:srgbClr val="475570"/>
              </a:solidFill>
              <a:latin typeface="한컴 윤고딕 740"/>
              <a:ea typeface="한컴 윤고딕 740"/>
              <a:cs typeface="Source Han Sans KR Bold"/>
              <a:sym typeface="Source Han Sans KR Bold"/>
            </a:endParaRPr>
          </a:p>
        </p:txBody>
      </p:sp>
      <p:sp>
        <p:nvSpPr>
          <p:cNvPr id="22" name="TextBox 9"/>
          <p:cNvSpPr txBox="1"/>
          <p:nvPr/>
        </p:nvSpPr>
        <p:spPr>
          <a:xfrm>
            <a:off x="4048858" y="9195374"/>
            <a:ext cx="9377488" cy="56775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479"/>
              </a:lnSpc>
              <a:spcBef>
                <a:spcPct val="0"/>
              </a:spcBef>
              <a:defRPr/>
            </a:pPr>
            <a:r>
              <a:rPr lang="en-US" altLang="ko-KR" sz="31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-</a:t>
            </a:r>
            <a:endParaRPr lang="en-US" altLang="ko-KR" sz="3199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23" name="AutoShape 12"/>
          <p:cNvSpPr/>
          <p:nvPr/>
        </p:nvSpPr>
        <p:spPr>
          <a:xfrm flipV="1">
            <a:off x="3497805" y="9334500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8801" y="1074737"/>
            <a:ext cx="4872762" cy="877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기타프로젝트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67450" y="830263"/>
            <a:ext cx="1584423" cy="35083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36702" y="1516062"/>
            <a:ext cx="2326098" cy="4460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>
                <a:solidFill>
                  <a:srgbClr val="475570"/>
                </a:solidFill>
                <a:latin typeface="한컴 윤고딕 760"/>
                <a:ea typeface="한컴 윤고딕 760"/>
                <a:cs typeface="Source Han Sans KR Bold"/>
                <a:sym typeface="Source Han Sans KR Bold"/>
              </a:rPr>
              <a:t>/ 다크나이츠</a:t>
            </a:r>
          </a:p>
        </p:txBody>
      </p:sp>
      <p:sp>
        <p:nvSpPr>
          <p:cNvPr id="5" name="Freeform 5"/>
          <p:cNvSpPr/>
          <p:nvPr/>
        </p:nvSpPr>
        <p:spPr>
          <a:xfrm>
            <a:off x="1133750" y="2962560"/>
            <a:ext cx="5091270" cy="3401591"/>
          </a:xfrm>
          <a:custGeom>
            <a:avLst/>
            <a:gdLst/>
            <a:ahLst/>
            <a:cxnLst/>
            <a:rect l="l" t="t" r="r" b="b"/>
            <a:pathLst>
              <a:path w="5091270" h="3401591">
                <a:moveTo>
                  <a:pt x="0" y="0"/>
                </a:moveTo>
                <a:lnTo>
                  <a:pt x="5091271" y="0"/>
                </a:lnTo>
                <a:lnTo>
                  <a:pt x="5091271" y="3401591"/>
                </a:lnTo>
                <a:lnTo>
                  <a:pt x="0" y="3401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6559004" y="2962560"/>
            <a:ext cx="4959892" cy="3345959"/>
          </a:xfrm>
          <a:custGeom>
            <a:avLst/>
            <a:gdLst/>
            <a:ahLst/>
            <a:cxnLst/>
            <a:rect l="l" t="t" r="r" b="b"/>
            <a:pathLst>
              <a:path w="4959892" h="3345959">
                <a:moveTo>
                  <a:pt x="0" y="0"/>
                </a:moveTo>
                <a:lnTo>
                  <a:pt x="4959892" y="0"/>
                </a:lnTo>
                <a:lnTo>
                  <a:pt x="4959892" y="3345959"/>
                </a:lnTo>
                <a:lnTo>
                  <a:pt x="0" y="3345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1767550" y="2962560"/>
            <a:ext cx="5386700" cy="3373775"/>
          </a:xfrm>
          <a:custGeom>
            <a:avLst/>
            <a:gdLst/>
            <a:ahLst/>
            <a:cxnLst/>
            <a:rect l="l" t="t" r="r" b="b"/>
            <a:pathLst>
              <a:path w="5386700" h="3373775">
                <a:moveTo>
                  <a:pt x="0" y="0"/>
                </a:moveTo>
                <a:lnTo>
                  <a:pt x="5386700" y="0"/>
                </a:lnTo>
                <a:lnTo>
                  <a:pt x="5386700" y="3373775"/>
                </a:lnTo>
                <a:lnTo>
                  <a:pt x="0" y="3373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4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267450" y="6755152"/>
            <a:ext cx="2039740" cy="4933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개발기간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7450" y="7413133"/>
            <a:ext cx="2039740" cy="4926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개발도구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7450" y="8086459"/>
            <a:ext cx="2039740" cy="486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개발인원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6099" y="8776970"/>
            <a:ext cx="2039740" cy="4908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담당업무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60053" y="6755152"/>
            <a:ext cx="3348234" cy="4933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24.11 (5주)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60052" y="7413133"/>
            <a:ext cx="8650548" cy="4926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C++, WinAPI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3480135" y="6812302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160053" y="8086459"/>
            <a:ext cx="8327978" cy="486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3명 (서버1, 클라이언트 2명)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3480135" y="7499477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7" name="AutoShape 17"/>
          <p:cNvSpPr/>
          <p:nvPr/>
        </p:nvSpPr>
        <p:spPr>
          <a:xfrm flipV="1">
            <a:off x="3489660" y="8143609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8" name="AutoShape 18"/>
          <p:cNvSpPr/>
          <p:nvPr/>
        </p:nvSpPr>
        <p:spPr>
          <a:xfrm flipV="1">
            <a:off x="3489830" y="8816935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169747" y="8776961"/>
            <a:ext cx="8461328" cy="49086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네트워크 프레임워크 제작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8801" y="2229134"/>
            <a:ext cx="7676599" cy="50180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spcBef>
                <a:spcPct val="0"/>
              </a:spcBef>
              <a:defRPr/>
            </a:pPr>
            <a:r>
              <a:rPr lang="ko-KR" altLang="en-US" sz="29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멀티플레이어 </a:t>
            </a:r>
            <a:r>
              <a:rPr lang="en-US" sz="29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횡스크롤</a:t>
            </a:r>
            <a:r>
              <a:rPr lang="en-US" sz="29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29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액션</a:t>
            </a:r>
            <a:r>
              <a:rPr lang="en-US" sz="29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29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슈팅</a:t>
            </a:r>
            <a:r>
              <a:rPr lang="en-US" sz="29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29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게임</a:t>
            </a:r>
            <a:endParaRPr lang="en-US" sz="29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3480135" y="7499477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3489660" y="8143609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3489830" y="8816935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38801" y="1074737"/>
            <a:ext cx="5260871" cy="877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475570"/>
                </a:solidFill>
                <a:latin typeface="한컴 윤고딕 760"/>
                <a:ea typeface="한컴 윤고딕 760"/>
                <a:cs typeface="Canva Sans Bold"/>
                <a:sym typeface="Canva Sans Bold"/>
              </a:rPr>
              <a:t>기타프로젝트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7450" y="830263"/>
            <a:ext cx="1710620" cy="35083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475570"/>
                </a:solidFill>
                <a:latin typeface="한컴 윤고딕 760"/>
                <a:ea typeface="한컴 윤고딕 760"/>
                <a:cs typeface="Cabin"/>
                <a:sym typeface="Cabin"/>
              </a:rPr>
              <a:t>PROJECTS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0" y="1420812"/>
            <a:ext cx="3617380" cy="4460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475570"/>
                </a:solidFill>
                <a:latin typeface="한컴 윤고딕 760"/>
                <a:ea typeface="한컴 윤고딕 760"/>
                <a:cs typeface="Source Han Sans KR Bold"/>
                <a:sym typeface="Source Han Sans KR Bold"/>
              </a:rPr>
              <a:t>/ </a:t>
            </a:r>
            <a:r>
              <a:rPr lang="en-US" sz="2499">
                <a:solidFill>
                  <a:srgbClr val="475570"/>
                </a:solidFill>
                <a:latin typeface="한컴 윤고딕 760"/>
                <a:ea typeface="한컴 윤고딕 760"/>
                <a:cs typeface="Source Han Sans KR Bold"/>
                <a:sym typeface="Source Han Sans KR Bold"/>
              </a:rPr>
              <a:t>GravityRacing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7450" y="7413133"/>
            <a:ext cx="2039740" cy="4926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개발도구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7450" y="8086459"/>
            <a:ext cx="2039740" cy="486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개발인원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6099" y="8776970"/>
            <a:ext cx="2039740" cy="4908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담당업무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3480135" y="6812302"/>
            <a:ext cx="0" cy="393105"/>
          </a:xfrm>
          <a:prstGeom prst="line">
            <a:avLst/>
          </a:prstGeom>
          <a:ln w="19050" cap="flat">
            <a:solidFill>
              <a:srgbClr val="000000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28700" y="3475747"/>
            <a:ext cx="5186143" cy="2534728"/>
          </a:xfrm>
          <a:custGeom>
            <a:avLst/>
            <a:gdLst/>
            <a:ahLst/>
            <a:cxnLst/>
            <a:rect l="l" t="t" r="r" b="b"/>
            <a:pathLst>
              <a:path w="5186143" h="2534728">
                <a:moveTo>
                  <a:pt x="0" y="0"/>
                </a:moveTo>
                <a:lnTo>
                  <a:pt x="5186143" y="0"/>
                </a:lnTo>
                <a:lnTo>
                  <a:pt x="5186143" y="2534727"/>
                </a:lnTo>
                <a:lnTo>
                  <a:pt x="0" y="2534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" r="-15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12105211" y="3514987"/>
            <a:ext cx="5410269" cy="2495487"/>
          </a:xfrm>
          <a:custGeom>
            <a:avLst/>
            <a:gdLst/>
            <a:ahLst/>
            <a:cxnLst/>
            <a:rect l="l" t="t" r="r" b="b"/>
            <a:pathLst>
              <a:path w="5410269" h="2495487">
                <a:moveTo>
                  <a:pt x="0" y="0"/>
                </a:moveTo>
                <a:lnTo>
                  <a:pt x="5410270" y="0"/>
                </a:lnTo>
                <a:lnTo>
                  <a:pt x="5410270" y="2495487"/>
                </a:lnTo>
                <a:lnTo>
                  <a:pt x="0" y="2495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6389807" y="3514987"/>
            <a:ext cx="5540440" cy="2555528"/>
          </a:xfrm>
          <a:custGeom>
            <a:avLst/>
            <a:gdLst/>
            <a:ahLst/>
            <a:cxnLst/>
            <a:rect l="l" t="t" r="r" b="b"/>
            <a:pathLst>
              <a:path w="5540440" h="2555528">
                <a:moveTo>
                  <a:pt x="0" y="0"/>
                </a:moveTo>
                <a:lnTo>
                  <a:pt x="5540440" y="0"/>
                </a:lnTo>
                <a:lnTo>
                  <a:pt x="5540440" y="2555528"/>
                </a:lnTo>
                <a:lnTo>
                  <a:pt x="0" y="2555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267450" y="6755152"/>
            <a:ext cx="2039740" cy="4933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475570"/>
                </a:solidFill>
                <a:latin typeface="한컴 윤고딕 740"/>
                <a:ea typeface="한컴 윤고딕 740"/>
                <a:cs typeface="Source Han Sans KR Bold"/>
                <a:sym typeface="Source Han Sans KR Bold"/>
              </a:rPr>
              <a:t>개발기간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60053" y="6755152"/>
            <a:ext cx="3348234" cy="4933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25.08 (2주)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60052" y="7413133"/>
            <a:ext cx="8650548" cy="4926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Unreal5.5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60053" y="8086459"/>
            <a:ext cx="8327978" cy="486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3명 (</a:t>
            </a:r>
            <a:r>
              <a:rPr lang="en-US" sz="27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클라이언트</a:t>
            </a:r>
            <a:r>
              <a:rPr lang="en-US" sz="27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2, </a:t>
            </a:r>
            <a:r>
              <a:rPr lang="en-US" sz="27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모델링</a:t>
            </a:r>
            <a:r>
              <a:rPr lang="en-US" sz="27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1)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69747" y="8776961"/>
            <a:ext cx="8461328" cy="49086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UI/</a:t>
            </a:r>
            <a:r>
              <a:rPr lang="en-US" sz="27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사운드</a:t>
            </a:r>
            <a:r>
              <a:rPr lang="en-US" sz="27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27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처리</a:t>
            </a:r>
            <a:r>
              <a:rPr lang="en-US" sz="27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, 앱 </a:t>
            </a:r>
            <a:r>
              <a:rPr lang="en-US" sz="27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스토어</a:t>
            </a:r>
            <a:r>
              <a:rPr lang="en-US" sz="2799" dirty="0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 </a:t>
            </a:r>
            <a:r>
              <a:rPr lang="en-US" sz="2799" dirty="0" err="1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등록</a:t>
            </a:r>
            <a:endParaRPr lang="en-US" sz="2799" dirty="0">
              <a:solidFill>
                <a:srgbClr val="475570"/>
              </a:solidFill>
              <a:latin typeface="한컴 윤고딕 740"/>
              <a:ea typeface="한컴 윤고딕 740"/>
              <a:cs typeface="Source Han Sans KR"/>
              <a:sym typeface="Source Han Sans K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38801" y="2229134"/>
            <a:ext cx="5072315" cy="5331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spcBef>
                <a:spcPct val="0"/>
              </a:spcBef>
              <a:defRPr/>
            </a:pPr>
            <a:r>
              <a:rPr lang="en-US" sz="2999">
                <a:solidFill>
                  <a:srgbClr val="475570"/>
                </a:solidFill>
                <a:latin typeface="한컴 윤고딕 740"/>
                <a:ea typeface="한컴 윤고딕 740"/>
                <a:cs typeface="Source Han Sans KR"/>
                <a:sym typeface="Source Han Sans KR"/>
              </a:rPr>
              <a:t>중력반전 러너 게임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55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06400" y="7447534"/>
            <a:ext cx="4152900" cy="87731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ts val="7000"/>
              </a:lnSpc>
              <a:spcBef>
                <a:spcPct val="0"/>
              </a:spcBef>
              <a:defRPr/>
            </a:pPr>
            <a:r>
              <a:rPr lang="en-US" sz="5000" b="1">
                <a:solidFill>
                  <a:srgbClr val="FCFDF8"/>
                </a:solidFill>
                <a:latin typeface="한컴 윤고딕 740"/>
                <a:ea typeface="한컴 윤고딕 740"/>
                <a:cs typeface="Cabin Bold"/>
                <a:sym typeface="Cabin Bold"/>
              </a:rPr>
              <a:t>감사합니다</a:t>
            </a:r>
          </a:p>
        </p:txBody>
      </p:sp>
      <p:sp>
        <p:nvSpPr>
          <p:cNvPr id="3" name="AutoShape 3"/>
          <p:cNvSpPr/>
          <p:nvPr/>
        </p:nvSpPr>
        <p:spPr>
          <a:xfrm>
            <a:off x="13867037" y="8500236"/>
            <a:ext cx="3392237" cy="9525"/>
          </a:xfrm>
          <a:prstGeom prst="line">
            <a:avLst/>
          </a:prstGeom>
          <a:ln w="19050" cap="flat">
            <a:solidFill>
              <a:srgbClr val="FCFDF8">
                <a:alpha val="19610"/>
              </a:srgbClr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한컴 윤고딕 740"/>
              <a:ea typeface="한컴 윤고딕 74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762076" y="8724875"/>
            <a:ext cx="6497196" cy="5239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4200"/>
              </a:lnSpc>
              <a:spcBef>
                <a:spcPct val="0"/>
              </a:spcBef>
              <a:defRPr/>
            </a:pPr>
            <a:r>
              <a:rPr lang="en-US" sz="3000">
                <a:solidFill>
                  <a:srgbClr val="FCFDF8"/>
                </a:solidFill>
                <a:latin typeface="한컴 윤고딕 740"/>
                <a:ea typeface="한컴 윤고딕 740"/>
                <a:cs typeface="Arimo"/>
                <a:sym typeface="Arimo"/>
              </a:rPr>
              <a:t>hwangsuji329@gmail.com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403</ep:Words>
  <ep:PresentationFormat>사용자 지정</ep:PresentationFormat>
  <ep:Paragraphs>196</ep:Paragraphs>
  <ep:Slides>21</ep:Slides>
  <ep:Notes>0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hwang</cp:lastModifiedBy>
  <dcterms:modified xsi:type="dcterms:W3CDTF">2025-09-18T08:40:48.554</dcterms:modified>
  <cp:revision>19</cp:revision>
  <dc:title>서버포폴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