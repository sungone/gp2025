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0" r:id="rId2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23181" autoAdjust="0"/>
    <p:restoredTop sz="94622" autoAdjust="0"/>
  </p:normalViewPr>
  <p:slideViewPr>
    <p:cSldViewPr>
      <p:cViewPr>
        <p:scale>
          <a:sx n="60" d="100"/>
          <a:sy n="60" d="100"/>
        </p:scale>
        <p:origin x="-1092" y="-90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slide" Target="slides/slide17.xml"  /><Relationship Id="rId19" Type="http://schemas.openxmlformats.org/officeDocument/2006/relationships/slide" Target="slides/slide18.xml"  /><Relationship Id="rId2" Type="http://schemas.openxmlformats.org/officeDocument/2006/relationships/slide" Target="slides/slide1.xml"  /><Relationship Id="rId20" Type="http://schemas.openxmlformats.org/officeDocument/2006/relationships/slide" Target="slides/slide19.xml"  /><Relationship Id="rId21" Type="http://schemas.openxmlformats.org/officeDocument/2006/relationships/slide" Target="slides/slide20.xml"  /><Relationship Id="rId22" Type="http://schemas.openxmlformats.org/officeDocument/2006/relationships/slide" Target="slides/slide21.xml"  /><Relationship Id="rId23" Type="http://schemas.openxmlformats.org/officeDocument/2006/relationships/slide" Target="slides/slide22.xml"  /><Relationship Id="rId24" Type="http://schemas.openxmlformats.org/officeDocument/2006/relationships/slide" Target="slides/slide23.xml"  /><Relationship Id="rId25" Type="http://schemas.openxmlformats.org/officeDocument/2006/relationships/slide" Target="slides/slide24.xml"  /><Relationship Id="rId26" Type="http://schemas.openxmlformats.org/officeDocument/2006/relationships/presProps" Target="presProps.xml"  /><Relationship Id="rId27" Type="http://schemas.openxmlformats.org/officeDocument/2006/relationships/viewProps" Target="viewProps.xml"  /><Relationship Id="rId28" Type="http://schemas.openxmlformats.org/officeDocument/2006/relationships/theme" Target="theme/theme1.xml"  /><Relationship Id="rId29" Type="http://schemas.openxmlformats.org/officeDocument/2006/relationships/tableStyles" Target="tableStyles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hyperlink" Target="https://www.youtube.com/watch?v=NkqPZXgjn8c" TargetMode="External" /><Relationship Id="rId3" Type="http://schemas.openxmlformats.org/officeDocument/2006/relationships/video" Target="https://www.youtube.com/embed/NkqPZXgjn8c" TargetMode="External" /><Relationship Id="rId4" Type="http://schemas.openxmlformats.org/officeDocument/2006/relationships/image" Target="../media/image1.jpe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4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5.png"  /><Relationship Id="rId3" Type="http://schemas.openxmlformats.org/officeDocument/2006/relationships/image" Target="../media/image6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7.png"  /><Relationship Id="rId3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9.png"  /><Relationship Id="rId3" Type="http://schemas.openxmlformats.org/officeDocument/2006/relationships/image" Target="../media/image10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1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2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3.png"  /><Relationship Id="rId3" Type="http://schemas.openxmlformats.org/officeDocument/2006/relationships/image" Target="../media/image14.png"  /><Relationship Id="rId4" Type="http://schemas.openxmlformats.org/officeDocument/2006/relationships/image" Target="../media/image15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6.png"  /><Relationship Id="rId3" Type="http://schemas.openxmlformats.org/officeDocument/2006/relationships/image" Target="../media/image17.png"  /><Relationship Id="rId4" Type="http://schemas.openxmlformats.org/officeDocument/2006/relationships/image" Target="../media/image18.png"  /><Relationship Id="rId5" Type="http://schemas.openxmlformats.org/officeDocument/2006/relationships/image" Target="../media/image19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0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1.png"  /><Relationship Id="rId3" Type="http://schemas.openxmlformats.org/officeDocument/2006/relationships/image" Target="../media/image22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video" Target="https://www.youtube.com/embed/WOgtC9ySq3c" TargetMode="External" /><Relationship Id="rId3" Type="http://schemas.openxmlformats.org/officeDocument/2006/relationships/image" Target="../media/image23.jpeg"  /><Relationship Id="rId4" Type="http://schemas.openxmlformats.org/officeDocument/2006/relationships/hyperlink" Target="https://youtu.be/WOgtC9ySq3c" TargetMode="External"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4.png"  /><Relationship Id="rId3" Type="http://schemas.openxmlformats.org/officeDocument/2006/relationships/image" Target="../media/image25.png"  /><Relationship Id="rId4" Type="http://schemas.openxmlformats.org/officeDocument/2006/relationships/image" Target="../media/image26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7.jpeg"  /><Relationship Id="rId3" Type="http://schemas.openxmlformats.org/officeDocument/2006/relationships/image" Target="../media/image28.jpeg"  /><Relationship Id="rId4" Type="http://schemas.openxmlformats.org/officeDocument/2006/relationships/image" Target="../media/image29.jpe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494218" y="5966661"/>
            <a:ext cx="7299563" cy="0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494218" y="4120314"/>
            <a:ext cx="8831382" cy="18137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just">
              <a:lnSpc>
                <a:spcPts val="14257"/>
              </a:lnSpc>
              <a:spcBef>
                <a:spcPct val="0"/>
              </a:spcBef>
              <a:defRPr/>
            </a:pPr>
            <a:r>
              <a:rPr lang="en-US" sz="10184" b="1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bin Bold"/>
              </a:rPr>
              <a:t>포트폴리오</a:t>
            </a:r>
            <a:endParaRPr lang="en-US" sz="10184" b="1">
              <a:solidFill>
                <a:srgbClr val="475570"/>
              </a:solidFill>
              <a:latin typeface="한컴 윤고딕 760"/>
              <a:ea typeface="한컴 윤고딕 760"/>
              <a:cs typeface="Arial"/>
              <a:sym typeface="Cabin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5494217" y="3536114"/>
            <a:ext cx="7299564" cy="7120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599"/>
              </a:lnSpc>
              <a:spcBef>
                <a:spcPct val="0"/>
              </a:spcBef>
              <a:defRPr/>
            </a:pPr>
            <a:r>
              <a:rPr lang="en-US" sz="39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게임서버 신입프로그래머</a:t>
            </a:r>
            <a:endParaRPr lang="en-US" sz="3999">
              <a:solidFill>
                <a:srgbClr val="475570"/>
              </a:solidFill>
              <a:latin typeface="한컴 윤고딕 760"/>
              <a:ea typeface="한컴 윤고딕 760"/>
              <a:cs typeface="Arial"/>
              <a:sym typeface="Canva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494217" y="5995236"/>
            <a:ext cx="7299564" cy="79608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6299"/>
              </a:lnSpc>
              <a:spcBef>
                <a:spcPct val="0"/>
              </a:spcBef>
              <a:defRPr/>
            </a:pPr>
            <a:r>
              <a:rPr lang="en-US" sz="44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황수지</a:t>
            </a:r>
            <a:endParaRPr lang="en-US" sz="4499">
              <a:solidFill>
                <a:srgbClr val="475570"/>
              </a:solidFill>
              <a:latin typeface="한컴 윤고딕 760"/>
              <a:ea typeface="한컴 윤고딕 760"/>
              <a:cs typeface="Arial"/>
              <a:sym typeface="Canva Sans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4755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912041" y="6181725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1912041" y="7208190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912041" y="8234656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76315" y="1451589"/>
            <a:ext cx="8053485" cy="167261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lnSpc>
                <a:spcPts val="13221"/>
              </a:lnSpc>
              <a:spcBef>
                <a:spcPct val="0"/>
              </a:spcBef>
              <a:defRPr/>
            </a:pPr>
            <a:r>
              <a:rPr lang="en-US" sz="9443" b="1" u="none" strike="noStrike">
                <a:solidFill>
                  <a:srgbClr val="fcfdf8"/>
                </a:solidFill>
                <a:latin typeface="한컴 윤고딕 760"/>
                <a:ea typeface="한컴 윤고딕 760"/>
                <a:cs typeface="Cabin Bold"/>
                <a:sym typeface="Cabin Bold"/>
              </a:rPr>
              <a:t>PROJECTS</a:t>
            </a:r>
            <a:endParaRPr lang="en-US" sz="9443" b="1" u="none" strike="noStrike">
              <a:solidFill>
                <a:srgbClr val="fcfdf8"/>
              </a:solidFill>
              <a:latin typeface="한컴 윤고딕 760"/>
              <a:ea typeface="한컴 윤고딕 760"/>
              <a:cs typeface="Cabin Bold"/>
              <a:sym typeface="Cabin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423001" y="5383213"/>
            <a:ext cx="8354261" cy="6080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just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티유월드</a:t>
            </a:r>
            <a:endParaRPr lang="en-US" sz="3399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423001" y="6410795"/>
            <a:ext cx="9158572" cy="6091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 strike="sngStrike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BomeGame (제작중)</a:t>
            </a:r>
            <a:endParaRPr lang="en-US" sz="3399" strike="sngStrike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423001" y="7438378"/>
            <a:ext cx="8136734" cy="60072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기타 프로젝트들</a:t>
            </a:r>
            <a:endParaRPr lang="en-US" sz="3399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912041" y="5260975"/>
            <a:ext cx="1021920" cy="4254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1</a:t>
            </a:r>
            <a:endParaRPr lang="en-US" sz="2399" b="1">
              <a:solidFill>
                <a:srgbClr val="fcfdf8"/>
              </a:solidFill>
              <a:latin typeface="한컴 윤고딕 760"/>
              <a:ea typeface="한컴 윤고딕 760"/>
              <a:cs typeface="Canva Sans Medium"/>
              <a:sym typeface="Canva Sans Medium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912041" y="6321895"/>
            <a:ext cx="1021920" cy="42180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2</a:t>
            </a:r>
            <a:endParaRPr lang="en-US" sz="2399" b="1">
              <a:solidFill>
                <a:srgbClr val="fcfdf8"/>
              </a:solidFill>
              <a:latin typeface="한컴 윤고딕 760"/>
              <a:ea typeface="한컴 윤고딕 760"/>
              <a:cs typeface="Canva Sans Medium"/>
              <a:sym typeface="Canva Sans Medium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912041" y="7382816"/>
            <a:ext cx="1021920" cy="42768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3</a:t>
            </a:r>
            <a:endParaRPr lang="en-US" sz="2399" b="1">
              <a:solidFill>
                <a:srgbClr val="fcfdf8"/>
              </a:solidFill>
              <a:latin typeface="한컴 윤고딕 760"/>
              <a:ea typeface="한컴 윤고딕 760"/>
              <a:cs typeface="Canva Sans Medium"/>
              <a:sym typeface="Canva Sans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153686" y="5383213"/>
            <a:ext cx="4897940" cy="6080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r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 (IOCP서버/언리얼)</a:t>
            </a:r>
            <a:endParaRPr lang="en-US" sz="3399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153686" y="6410795"/>
            <a:ext cx="4897940" cy="6091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r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 strike="sngStrike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 (Epoll서버/언리얼)</a:t>
            </a:r>
            <a:endParaRPr lang="en-US" sz="3399" strike="sngStrike">
              <a:solidFill>
                <a:srgbClr val="fcfdf8"/>
              </a:solidFill>
              <a:latin typeface="한컴 윤고딕 760"/>
              <a:ea typeface="한컴 윤고딕 760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119" y="3594010"/>
            <a:ext cx="2211148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4095199" cy="105886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6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23139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85119" y="4251991"/>
            <a:ext cx="2211148" cy="56765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85119" y="4945863"/>
            <a:ext cx="2211148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4074" y="5731239"/>
            <a:ext cx="2211148" cy="56478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4177723" y="3594010"/>
            <a:ext cx="3629599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~ 25.07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177722" y="4251991"/>
            <a:ext cx="9377488" cy="56765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MySQL, Unreal5.4, 3ds Max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177723" y="4945863"/>
            <a:ext cx="9027810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 1, 클라이언트1, 모델링1)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3497805" y="432881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5051876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500602" y="586644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2128088" cy="56333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한국공학대학교 배경으로 한  MMORPG 게임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77722" y="5731230"/>
            <a:ext cx="11250718" cy="227929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네트워크 프레임워크 제작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 중심 구조의 게임 로직 구현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IOCP 기반 세션 병렬 처리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데이터베이스 설계 및 연동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4368756" y="8801100"/>
            <a:ext cx="9550488" cy="44767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3500"/>
              </a:lnSpc>
              <a:defRPr/>
            </a:pPr>
            <a:r>
              <a:rPr lang="en-US" sz="2500" u="sng">
                <a:solidFill>
                  <a:srgbClr val="475570"/>
                </a:solidFill>
                <a:latin typeface="한컴 윤고딕 720"/>
                <a:ea typeface="한컴 윤고딕 720"/>
                <a:cs typeface="Arimo"/>
                <a:sym typeface="Arimo"/>
                <a:hlinkClick r:id="rId2" tooltip="https://www.youtube.com/watch?v=NkqPZXgjn8c"/>
              </a:rPr>
              <a:t>https://www.youtube.com/watch?v=NkqPZXgjn8c</a:t>
            </a:r>
            <a:endParaRPr lang="en-US" sz="2500" u="sng">
              <a:solidFill>
                <a:srgbClr val="475570"/>
              </a:solidFill>
              <a:latin typeface="한컴 윤고딕 720"/>
              <a:ea typeface="한컴 윤고딕 720"/>
              <a:cs typeface="Arimo"/>
              <a:sym typeface="Arimo"/>
            </a:endParaRPr>
          </a:p>
        </p:txBody>
      </p:sp>
      <p:pic>
        <p:nvPicPr>
          <p:cNvPr id="6" name="NkqPZXgjn8c">
            <a:hlinkClick r:id="" action="ppaction://media"/>
          </p:cNvPr>
          <p:cNvPicPr>
            <a:picLocks noRot="1" noChangeAspect="1"/>
          </p:cNvPicPr>
          <p:nvPr>
            <a:videoFile r:link="rId3"/>
          </p:nvPr>
        </p:nvPicPr>
        <p:blipFill rotWithShape="1">
          <a:blip r:embed="rId4"/>
          <a:stretch>
            <a:fillRect/>
          </a:stretch>
        </p:blipFill>
        <p:spPr>
          <a:xfrm>
            <a:off x="4819649" y="1900237"/>
            <a:ext cx="8648701" cy="64865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07" y="695325"/>
            <a:ext cx="307849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501502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794411" y="3236852"/>
            <a:ext cx="8089229" cy="52784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CPU 과부하, 지연 증가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799"/>
              </a:lnSpc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799"/>
              </a:lnSpc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서버 안정성 향상, 확장성 확보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94412" y="2263589"/>
            <a:ext cx="5782478" cy="8796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대규모 씬 최적화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626980" y="4399593"/>
            <a:ext cx="13984620" cy="242983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비동기 IOCP로 I/O 병렬화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그리드 + ViewList로 전송 범위 축소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채널링으로 접속 분할, 세션/이벤트를 채널별로 스코프 제한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963011" y="1179512"/>
            <a:ext cx="10361979" cy="7068650"/>
          </a:xfrm>
          <a:custGeom>
            <a:avLst/>
            <a:gdLst/>
            <a:ahLst/>
            <a:cxnLst/>
            <a:rect r="r" b="b" t="t" l="l"/>
            <a:pathLst>
              <a:path h="7068650" w="10361979">
                <a:moveTo>
                  <a:pt x="0" y="0"/>
                </a:moveTo>
                <a:lnTo>
                  <a:pt x="10361978" y="0"/>
                </a:lnTo>
                <a:lnTo>
                  <a:pt x="10361978" y="7068650"/>
                </a:lnTo>
                <a:lnTo>
                  <a:pt x="0" y="70686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290" r="0" b="-4818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498764" y="8406565"/>
            <a:ext cx="13290473" cy="11374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비동기적으로 발생하는 IOCP 완료 이벤트를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CompType(세션 연결·데이터 수신·송신)별로 워커풀에서 병렬 처리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50290" y="1179512"/>
            <a:ext cx="9587419" cy="7430250"/>
          </a:xfrm>
          <a:custGeom>
            <a:avLst/>
            <a:gdLst/>
            <a:rect l="l" t="t" r="r" b="b"/>
            <a:pathLst>
              <a:path w="9587419" h="7430250">
                <a:moveTo>
                  <a:pt x="0" y="0"/>
                </a:moveTo>
                <a:lnTo>
                  <a:pt x="9587420" y="0"/>
                </a:lnTo>
                <a:lnTo>
                  <a:pt x="9587420" y="7430250"/>
                </a:lnTo>
                <a:lnTo>
                  <a:pt x="0" y="7430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  <p:txBody>
          <a:bodyPr anchor="ctr"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59149" y="8922715"/>
            <a:ext cx="14369702" cy="56418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월드를 그리드 파티셔닝하고 ViewList 기반으로 근접 객체만 브로드캐스트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16356" y="1876938"/>
            <a:ext cx="8855288" cy="6533125"/>
          </a:xfrm>
          <a:custGeom>
            <a:avLst/>
            <a:gdLst/>
            <a:ahLst/>
            <a:cxnLst/>
            <a:rect r="r" b="b" t="t" l="l"/>
            <a:pathLst>
              <a:path h="6533125" w="8855288">
                <a:moveTo>
                  <a:pt x="0" y="0"/>
                </a:moveTo>
                <a:lnTo>
                  <a:pt x="8855288" y="0"/>
                </a:lnTo>
                <a:lnTo>
                  <a:pt x="8855288" y="6533124"/>
                </a:lnTo>
                <a:lnTo>
                  <a:pt x="0" y="6533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6927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3732" y="8724900"/>
            <a:ext cx="1530053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Source Han Sans KR"/>
                <a:ea typeface="Source Han Sans KR"/>
                <a:cs typeface="Source Han Sans KR"/>
                <a:sym typeface="Source Han Sans KR"/>
              </a:rPr>
              <a:t>GameWorldManager에서 상태 기반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채널링으로</a:t>
            </a:r>
            <a:r>
              <a:rPr lang="en-US" sz="3199">
                <a:solidFill>
                  <a:srgbClr val="475570"/>
                </a:solidFill>
                <a:latin typeface="Source Han Sans KR"/>
                <a:ea typeface="Source Han Sans KR"/>
                <a:cs typeface="Source Han Sans KR"/>
                <a:sym typeface="Source Han Sans KR"/>
              </a:rPr>
              <a:t> 상태를 주기적으로 갱신·공지</a:t>
            </a:r>
            <a:endParaRPr lang="en-US" sz="3199">
              <a:solidFill>
                <a:srgbClr val="475570"/>
              </a:solidFill>
              <a:latin typeface="Source Han Sans KR"/>
              <a:ea typeface="Source Han Sans KR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73588" y="2522422"/>
            <a:ext cx="7548532" cy="5201123"/>
          </a:xfrm>
          <a:custGeom>
            <a:avLst/>
            <a:gdLst/>
            <a:ahLst/>
            <a:cxnLst/>
            <a:rect r="r" b="b" t="t" l="l"/>
            <a:pathLst>
              <a:path h="5201123" w="7548532">
                <a:moveTo>
                  <a:pt x="0" y="0"/>
                </a:moveTo>
                <a:lnTo>
                  <a:pt x="7548532" y="0"/>
                </a:lnTo>
                <a:lnTo>
                  <a:pt x="7548532" y="5201123"/>
                </a:lnTo>
                <a:lnTo>
                  <a:pt x="0" y="52011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235683" y="2522422"/>
            <a:ext cx="7578729" cy="5242156"/>
          </a:xfrm>
          <a:custGeom>
            <a:avLst/>
            <a:gdLst/>
            <a:ahLst/>
            <a:cxnLst/>
            <a:rect r="r" b="b" t="t" l="l"/>
            <a:pathLst>
              <a:path h="5242156" w="7578729">
                <a:moveTo>
                  <a:pt x="0" y="0"/>
                </a:moveTo>
                <a:lnTo>
                  <a:pt x="7578729" y="0"/>
                </a:lnTo>
                <a:lnTo>
                  <a:pt x="7578729" y="5242156"/>
                </a:lnTo>
                <a:lnTo>
                  <a:pt x="0" y="5242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183129" y="8231798"/>
            <a:ext cx="11921740" cy="5693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게임 입장 시 선택 채널 처리 &amp; 게임 중 채널 변경 처리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85395"/>
            <a:ext cx="16670630" cy="303933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하드코딩 스폰/전환 좌표는 맵 구조가 바뀔 때마다 충돌·위치 오류 발생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존·게이트마다 NavMesh에서 좌표를 자동 계산하도록 통합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맵을 수정해도 안전하게 배치 가능, 클라이언트와 항상 동기화 유지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2"/>
            <a:ext cx="9940198" cy="88060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NavMesh 기반 스폰·길찾기·맵전환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737460" y="3456235"/>
            <a:ext cx="12068066" cy="5281906"/>
          </a:xfrm>
          <a:custGeom>
            <a:avLst/>
            <a:gdLst/>
            <a:ahLst/>
            <a:cxnLst/>
            <a:rect r="r" b="b" t="t" l="l"/>
            <a:pathLst>
              <a:path h="5281906" w="12068066">
                <a:moveTo>
                  <a:pt x="0" y="0"/>
                </a:moveTo>
                <a:lnTo>
                  <a:pt x="12068065" y="0"/>
                </a:lnTo>
                <a:lnTo>
                  <a:pt x="12068065" y="5281906"/>
                </a:lnTo>
                <a:lnTo>
                  <a:pt x="0" y="5281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4" t="-52132" r="-634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324535" y="800100"/>
            <a:ext cx="8893914" cy="2127992"/>
          </a:xfrm>
          <a:custGeom>
            <a:avLst/>
            <a:gdLst/>
            <a:ahLst/>
            <a:cxnLst/>
            <a:rect r="r" b="b" t="t" l="l"/>
            <a:pathLst>
              <a:path h="2127992" w="8893914">
                <a:moveTo>
                  <a:pt x="0" y="0"/>
                </a:moveTo>
                <a:lnTo>
                  <a:pt x="8893915" y="0"/>
                </a:lnTo>
                <a:lnTo>
                  <a:pt x="8893915" y="2127992"/>
                </a:lnTo>
                <a:lnTo>
                  <a:pt x="0" y="21279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929635" y="8690516"/>
            <a:ext cx="13683713" cy="113928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JSON파일 파싱 및 서버용 NavMesh 빌드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 기반 A* 알고리즘으로 폴리곤 중심 경로 탐색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4865649" y="2880467"/>
            <a:ext cx="7811685" cy="56758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언리얼에서 NavMesh를 JSON으로 추출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4586" y="1974503"/>
            <a:ext cx="7173257" cy="1896783"/>
          </a:xfrm>
          <a:custGeom>
            <a:avLst/>
            <a:gdLst/>
            <a:ahLst/>
            <a:cxnLst/>
            <a:rect r="r" b="b" t="t" l="l"/>
            <a:pathLst>
              <a:path h="1896783" w="7173257">
                <a:moveTo>
                  <a:pt x="0" y="0"/>
                </a:moveTo>
                <a:lnTo>
                  <a:pt x="7173257" y="0"/>
                </a:lnTo>
                <a:lnTo>
                  <a:pt x="7173257" y="1896783"/>
                </a:lnTo>
                <a:lnTo>
                  <a:pt x="0" y="18967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0426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24586" y="4030728"/>
            <a:ext cx="7173257" cy="5835102"/>
          </a:xfrm>
          <a:custGeom>
            <a:avLst/>
            <a:gdLst/>
            <a:ahLst/>
            <a:cxnLst/>
            <a:rect r="r" b="b" t="t" l="l"/>
            <a:pathLst>
              <a:path h="5835102" w="7173257">
                <a:moveTo>
                  <a:pt x="0" y="0"/>
                </a:moveTo>
                <a:lnTo>
                  <a:pt x="7173257" y="0"/>
                </a:lnTo>
                <a:lnTo>
                  <a:pt x="7173257" y="5835102"/>
                </a:lnTo>
                <a:lnTo>
                  <a:pt x="0" y="5835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7137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9144000" y="4269110"/>
            <a:ext cx="7620000" cy="114109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①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스폰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144000" y="5911880"/>
            <a:ext cx="6495720" cy="56512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플레이어/몬스터 스폰 위치 설정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799260"/>
            <a:ext cx="8921584" cy="7766489"/>
          </a:xfrm>
          <a:custGeom>
            <a:avLst/>
            <a:gdLst/>
            <a:ahLst/>
            <a:cxnLst/>
            <a:rect r="r" b="b" t="t" l="l"/>
            <a:pathLst>
              <a:path h="7766489" w="8921584">
                <a:moveTo>
                  <a:pt x="0" y="0"/>
                </a:moveTo>
                <a:lnTo>
                  <a:pt x="8921584" y="0"/>
                </a:lnTo>
                <a:lnTo>
                  <a:pt x="8921584" y="7766490"/>
                </a:lnTo>
                <a:lnTo>
                  <a:pt x="0" y="7766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406548" y="4075679"/>
            <a:ext cx="6266416" cy="113449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②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길찾기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406548" y="5635400"/>
            <a:ext cx="3705820" cy="5653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몬스터 플레이어 쫓기 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4586" y="2134752"/>
            <a:ext cx="9652331" cy="6933795"/>
          </a:xfrm>
          <a:custGeom>
            <a:avLst/>
            <a:gdLst/>
            <a:ahLst/>
            <a:cxnLst/>
            <a:rect r="r" b="b" t="t" l="l"/>
            <a:pathLst>
              <a:path h="6933795" w="9652331">
                <a:moveTo>
                  <a:pt x="0" y="0"/>
                </a:moveTo>
                <a:lnTo>
                  <a:pt x="9652331" y="0"/>
                </a:lnTo>
                <a:lnTo>
                  <a:pt x="9652331" y="6933795"/>
                </a:lnTo>
                <a:lnTo>
                  <a:pt x="0" y="69337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1267484" y="4049539"/>
            <a:ext cx="4566617" cy="11415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③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전환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267484" y="5661540"/>
            <a:ext cx="3444806" cy="5678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맵 전환 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75873"/>
            <a:ext cx="17520614" cy="303932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하드코딩/스프레드시트 의존으로 빌드 반복·값 불일치 발생.</a:t>
            </a:r>
            <a:endParaRPr lang="en-US" sz="32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CSV 스키마 표준화 + 로더(검증/인덱싱) + 읽기 전용 API로 데이터/로직 분리</a:t>
            </a:r>
            <a:endParaRPr lang="en-US" sz="32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밸런스 수정 무빌드 반영, 신규 퀘스트/몬스터 추가 가능, 서버·클라 동일 데이터 유지.</a:t>
            </a:r>
            <a:endParaRPr lang="en-US" sz="32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3"/>
            <a:ext cx="8664802" cy="8806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CSV 기반 콘텐츠 파이프라인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40831" y="2754311"/>
            <a:ext cx="6142124" cy="2932864"/>
          </a:xfrm>
          <a:custGeom>
            <a:avLst/>
            <a:gdLst/>
            <a:ahLst/>
            <a:cxnLst/>
            <a:rect r="r" b="b" t="t" l="l"/>
            <a:pathLst>
              <a:path h="2932864" w="6142124">
                <a:moveTo>
                  <a:pt x="0" y="0"/>
                </a:moveTo>
                <a:lnTo>
                  <a:pt x="6142124" y="0"/>
                </a:lnTo>
                <a:lnTo>
                  <a:pt x="6142124" y="2932865"/>
                </a:lnTo>
                <a:lnTo>
                  <a:pt x="0" y="29328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474509" y="2754311"/>
            <a:ext cx="7299024" cy="2928734"/>
          </a:xfrm>
          <a:custGeom>
            <a:avLst/>
            <a:gdLst/>
            <a:ahLst/>
            <a:cxnLst/>
            <a:rect r="r" b="b" t="t" l="l"/>
            <a:pathLst>
              <a:path h="2928734" w="7299024">
                <a:moveTo>
                  <a:pt x="0" y="0"/>
                </a:moveTo>
                <a:lnTo>
                  <a:pt x="7299024" y="0"/>
                </a:lnTo>
                <a:lnTo>
                  <a:pt x="7299024" y="2928734"/>
                </a:lnTo>
                <a:lnTo>
                  <a:pt x="0" y="2928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678258" y="1866900"/>
            <a:ext cx="14931482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컨텐츠는 CSV 스키마로 관리 (플레이어/몬스터/아이템/퀘스트)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140831" y="5658601"/>
            <a:ext cx="2173685" cy="34214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ItemTable.csv</a:t>
            </a:r>
            <a:endParaRPr lang="en-US" sz="19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474510" y="5654470"/>
            <a:ext cx="2379312" cy="3367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QuestTable.csv</a:t>
            </a:r>
            <a:endParaRPr lang="en-US" sz="190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986268" y="6358684"/>
            <a:ext cx="8315464" cy="2964425"/>
          </a:xfrm>
          <a:custGeom>
            <a:avLst/>
            <a:gdLst/>
            <a:ahLst/>
            <a:cxnLst/>
            <a:rect r="r" b="b" t="t" l="l"/>
            <a:pathLst>
              <a:path h="2964425" w="8315464">
                <a:moveTo>
                  <a:pt x="0" y="0"/>
                </a:moveTo>
                <a:lnTo>
                  <a:pt x="8315464" y="0"/>
                </a:lnTo>
                <a:lnTo>
                  <a:pt x="8315464" y="2964426"/>
                </a:lnTo>
                <a:lnTo>
                  <a:pt x="0" y="29644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6167878" y="9258300"/>
            <a:ext cx="5952241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부팅 시 테이블 일괄 로드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1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12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54760" y="4961357"/>
            <a:ext cx="7384527" cy="2283781"/>
          </a:xfrm>
          <a:custGeom>
            <a:avLst/>
            <a:gdLst/>
            <a:ahLst/>
            <a:cxnLst/>
            <a:rect r="r" b="b" t="t" l="l"/>
            <a:pathLst>
              <a:path h="2283781" w="7384527">
                <a:moveTo>
                  <a:pt x="0" y="0"/>
                </a:moveTo>
                <a:lnTo>
                  <a:pt x="7384527" y="0"/>
                </a:lnTo>
                <a:lnTo>
                  <a:pt x="7384527" y="2283781"/>
                </a:lnTo>
                <a:lnTo>
                  <a:pt x="0" y="22837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9865" b="0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54760" y="2452446"/>
            <a:ext cx="7720736" cy="2292515"/>
          </a:xfrm>
          <a:custGeom>
            <a:avLst/>
            <a:gdLst/>
            <a:rect l="l" t="t" r="r" b="b"/>
            <a:pathLst>
              <a:path w="7720736" h="2292515">
                <a:moveTo>
                  <a:pt x="0" y="0"/>
                </a:moveTo>
                <a:lnTo>
                  <a:pt x="7720737" y="0"/>
                </a:lnTo>
                <a:lnTo>
                  <a:pt x="7720737" y="2292516"/>
                </a:lnTo>
                <a:lnTo>
                  <a:pt x="0" y="229251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r="-568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008653" y="2401155"/>
            <a:ext cx="9969307" cy="3356452"/>
          </a:xfrm>
          <a:custGeom>
            <a:avLst/>
            <a:gdLst/>
            <a:ahLst/>
            <a:cxnLst/>
            <a:rect r="r" b="b" t="t" l="l"/>
            <a:pathLst>
              <a:path h="3356452" w="9969307">
                <a:moveTo>
                  <a:pt x="0" y="0"/>
                </a:moveTo>
                <a:lnTo>
                  <a:pt x="9969307" y="0"/>
                </a:lnTo>
                <a:lnTo>
                  <a:pt x="9969307" y="3356453"/>
                </a:lnTo>
                <a:lnTo>
                  <a:pt x="0" y="33564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2023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039287" y="5757608"/>
            <a:ext cx="8113011" cy="2128237"/>
          </a:xfrm>
          <a:custGeom>
            <a:avLst/>
            <a:gdLst/>
            <a:ahLst/>
            <a:cxnLst/>
            <a:rect r="r" b="b" t="t" l="l"/>
            <a:pathLst>
              <a:path h="2128237" w="8113011">
                <a:moveTo>
                  <a:pt x="0" y="0"/>
                </a:moveTo>
                <a:lnTo>
                  <a:pt x="8113012" y="0"/>
                </a:lnTo>
                <a:lnTo>
                  <a:pt x="8113012" y="2128237"/>
                </a:lnTo>
                <a:lnTo>
                  <a:pt x="0" y="2128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576507" y="8267700"/>
            <a:ext cx="913498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유효성 검사 &amp; 인덱싱을 수행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9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10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5" y="4285395"/>
            <a:ext cx="14942005" cy="30393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just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  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동시 저장/요청에서 락 경합·부분 업데이트로 데이터 꼬임 가능.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just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 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커넥션 풀 + RAII 세션으로 연결 수명 통제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just">
              <a:lnSpc>
                <a:spcPts val="799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  </a:t>
            </a: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동시 처리량↑, 리소스 누수↓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5" y="3015122"/>
            <a:ext cx="8148015" cy="88060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DB 세션 수명 관리 최적화</a:t>
            </a:r>
            <a:endParaRPr lang="en-US" sz="5000" b="1">
              <a:solidFill>
                <a:srgbClr val="475570"/>
              </a:solidFill>
              <a:latin typeface="한컴 윤고딕 740"/>
              <a:ea typeface="한컴 윤고딕 740"/>
              <a:cs typeface="Canva Sans Bold"/>
              <a:sym typeface="Canva Sans Bold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57251" y="1707597"/>
            <a:ext cx="15573497" cy="6871806"/>
          </a:xfrm>
          <a:custGeom>
            <a:avLst/>
            <a:gdLst/>
            <a:ahLst/>
            <a:cxnLst/>
            <a:rect r="r" b="b" t="t" l="l"/>
            <a:pathLst>
              <a:path h="6871806" w="15573497">
                <a:moveTo>
                  <a:pt x="0" y="0"/>
                </a:moveTo>
                <a:lnTo>
                  <a:pt x="15573498" y="0"/>
                </a:lnTo>
                <a:lnTo>
                  <a:pt x="15573498" y="6871806"/>
                </a:lnTo>
                <a:lnTo>
                  <a:pt x="0" y="68718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285697" y="8953500"/>
            <a:ext cx="1171660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DBManager로 게임 데이터 관리 (친구/인벤토리/프로필)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643434" y="8724900"/>
            <a:ext cx="17001132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RAII 기반 세션 관리 + DBConnectionPool: 세션은 자동으로 회수, 연결은 풀에서 재사용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40762" y="839619"/>
            <a:ext cx="9300929" cy="4891467"/>
          </a:xfrm>
          <a:custGeom>
            <a:avLst/>
            <a:gdLst/>
            <a:ahLst/>
            <a:cxnLst/>
            <a:rect r="r" b="b" t="t" l="l"/>
            <a:pathLst>
              <a:path h="4891467" w="9300929">
                <a:moveTo>
                  <a:pt x="0" y="0"/>
                </a:moveTo>
                <a:lnTo>
                  <a:pt x="9300929" y="0"/>
                </a:lnTo>
                <a:lnTo>
                  <a:pt x="9300929" y="4891468"/>
                </a:lnTo>
                <a:lnTo>
                  <a:pt x="0" y="48914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37521" y="5948035"/>
            <a:ext cx="10361561" cy="2307573"/>
          </a:xfrm>
          <a:custGeom>
            <a:avLst/>
            <a:gdLst/>
            <a:ahLst/>
            <a:cxnLst/>
            <a:rect r="r" b="b" t="t" l="l"/>
            <a:pathLst>
              <a:path h="2307573" w="10361561">
                <a:moveTo>
                  <a:pt x="0" y="0"/>
                </a:moveTo>
                <a:lnTo>
                  <a:pt x="10361561" y="0"/>
                </a:lnTo>
                <a:lnTo>
                  <a:pt x="10361561" y="2307573"/>
                </a:lnTo>
                <a:lnTo>
                  <a:pt x="0" y="23075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6817" b="-42092"/>
            </a:stretch>
          </a:blipFill>
        </p:spPr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120" y="3594010"/>
            <a:ext cx="2039740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7001106" cy="105886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BombGame</a:t>
            </a:r>
            <a:endParaRPr lang="en-US" sz="6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17805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85120" y="4251991"/>
            <a:ext cx="2039740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85120" y="4945863"/>
            <a:ext cx="2039740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4075" y="5731239"/>
            <a:ext cx="2039740" cy="5647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31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4177723" y="3594010"/>
            <a:ext cx="3348234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25.05 ~ 06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177722" y="4251991"/>
            <a:ext cx="8650548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177723" y="4945863"/>
            <a:ext cx="8327978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1명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3497805" y="432881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5051876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500602" y="586644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1187924" cy="5633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폭탄 던지기 게임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77723" y="5731230"/>
            <a:ext cx="8461328" cy="113629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(제작중)</a:t>
            </a: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525957" y="5397356"/>
            <a:ext cx="8488040" cy="285129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엔진 수업 프로젝트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언리얼서버로 매칭, 채팅, 커스텀 동기화 구현 상태.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→ epoll서버 학습 겸 서버 재작업하려고 함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포트폴리오에 넣을지 고민중</a:t>
            </a: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pic>
        <p:nvPicPr>
          <p:cNvPr id="19" name="WOgtC9ySq3c">
            <a:hlinkClick r:id="" action="ppaction://media"/>
          </p:cNvPr>
          <p:cNvPicPr>
            <a:picLocks noRot="1" noChangeAspect="1"/>
          </p:cNvPicPr>
          <p:nvPr>
            <a:videoFile r:link="rId2"/>
          </p:nvPr>
        </p:nvPicPr>
        <p:blipFill rotWithShape="1">
          <a:blip r:embed="rId3"/>
          <a:stretch>
            <a:fillRect/>
          </a:stretch>
        </p:blipFill>
        <p:spPr>
          <a:xfrm>
            <a:off x="9601200" y="1333500"/>
            <a:ext cx="4572000" cy="3429000"/>
          </a:xfrm>
          <a:prstGeom prst="rect">
            <a:avLst/>
          </a:prstGeom>
        </p:spPr>
      </p:pic>
      <p:sp>
        <p:nvSpPr>
          <p:cNvPr id="20" name="가로 글상자 19"/>
          <p:cNvSpPr txBox="1"/>
          <p:nvPr/>
        </p:nvSpPr>
        <p:spPr>
          <a:xfrm>
            <a:off x="11925300" y="4779645"/>
            <a:ext cx="5829300" cy="363855"/>
          </a:xfrm>
          <a:prstGeom prst="rect">
            <a:avLst/>
          </a:prstGeom>
        </p:spPr>
        <p:txBody>
          <a:bodyPr wrap="square">
            <a:spAutoFit/>
          </a:bodyPr>
          <a:p>
            <a:pPr lvl="0">
              <a:defRPr/>
            </a:pPr>
            <a:r>
              <a:rPr lang="en-US" altLang="en-US">
                <a:hlinkClick r:id="rId4"/>
              </a:rPr>
              <a:t>https://youtu.be/WOgtC9ySq3c</a:t>
            </a:r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38801" y="1074737"/>
            <a:ext cx="4872762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267450" y="830263"/>
            <a:ext cx="1584423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4836702" y="1516062"/>
            <a:ext cx="2326098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다크나이츠</a:t>
            </a:r>
            <a:endParaRPr lang="en-US" sz="2499">
              <a:solidFill>
                <a:srgbClr val="475570"/>
              </a:solidFill>
              <a:latin typeface="한컴 윤고딕 760"/>
              <a:ea typeface="한컴 윤고딕 760"/>
              <a:cs typeface="Source Han Sans KR Bold"/>
              <a:sym typeface="Source Han Sans KR Bold"/>
            </a:endParaRP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133750" y="2962560"/>
            <a:ext cx="5091270" cy="3401591"/>
          </a:xfrm>
          <a:custGeom>
            <a:avLst/>
            <a:gdLst/>
            <a:ahLst/>
            <a:cxnLst/>
            <a:rect r="r" b="b" t="t" l="l"/>
            <a:pathLst>
              <a:path h="3401591" w="5091270">
                <a:moveTo>
                  <a:pt x="0" y="0"/>
                </a:moveTo>
                <a:lnTo>
                  <a:pt x="5091271" y="0"/>
                </a:lnTo>
                <a:lnTo>
                  <a:pt x="5091271" y="3401591"/>
                </a:lnTo>
                <a:lnTo>
                  <a:pt x="0" y="34015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559004" y="2962560"/>
            <a:ext cx="4959892" cy="3345959"/>
          </a:xfrm>
          <a:custGeom>
            <a:avLst/>
            <a:gdLst/>
            <a:ahLst/>
            <a:cxnLst/>
            <a:rect r="r" b="b" t="t" l="l"/>
            <a:pathLst>
              <a:path h="3345959" w="4959892">
                <a:moveTo>
                  <a:pt x="0" y="0"/>
                </a:moveTo>
                <a:lnTo>
                  <a:pt x="4959892" y="0"/>
                </a:lnTo>
                <a:lnTo>
                  <a:pt x="4959892" y="3345959"/>
                </a:lnTo>
                <a:lnTo>
                  <a:pt x="0" y="33459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1767550" y="2962560"/>
            <a:ext cx="5386700" cy="3373775"/>
          </a:xfrm>
          <a:custGeom>
            <a:avLst/>
            <a:gdLst/>
            <a:ahLst/>
            <a:cxnLst/>
            <a:rect r="r" b="b" t="t" l="l"/>
            <a:pathLst>
              <a:path h="3373775" w="5386700">
                <a:moveTo>
                  <a:pt x="0" y="0"/>
                </a:moveTo>
                <a:lnTo>
                  <a:pt x="5386700" y="0"/>
                </a:lnTo>
                <a:lnTo>
                  <a:pt x="5386700" y="3373775"/>
                </a:lnTo>
                <a:lnTo>
                  <a:pt x="0" y="33737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46" t="0" r="0" b="0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(5주)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WinAPI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(서버1, 클라이언트 2명)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6" name="AutoShape 16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7" name="AutoShape 17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8" name="AutoShape 18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네트워크 프레임워크 제작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5271027" cy="53311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en-US" sz="29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횡스크롤 액션 슈팅 게임</a:t>
            </a:r>
            <a:endParaRPr lang="en-US" sz="29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c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AutoShape 4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38801" y="1074737"/>
            <a:ext cx="5260871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  <a:endParaRPr lang="en-US" sz="5000" b="1">
              <a:solidFill>
                <a:srgbClr val="475570"/>
              </a:solidFill>
              <a:latin typeface="한컴 윤고딕 760"/>
              <a:ea typeface="한컴 윤고딕 760"/>
              <a:cs typeface="Canva Sans Bold"/>
              <a:sym typeface="Canva Sa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67450" y="830263"/>
            <a:ext cx="171062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  <a:endParaRPr lang="en-US" sz="2000">
              <a:solidFill>
                <a:srgbClr val="475570"/>
              </a:solidFill>
              <a:latin typeface="한컴 윤고딕 760"/>
              <a:ea typeface="한컴 윤고딕 760"/>
              <a:cs typeface="Cabin"/>
              <a:sym typeface="Cabin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029200" y="1420812"/>
            <a:ext cx="3617380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 b="1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</a:t>
            </a: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GravityRacing</a:t>
            </a:r>
            <a:endParaRPr lang="en-US" sz="2499">
              <a:solidFill>
                <a:srgbClr val="475570"/>
              </a:solidFill>
              <a:latin typeface="한컴 윤고딕 760"/>
              <a:ea typeface="한컴 윤고딕 760"/>
              <a:cs typeface="Source Han Sans KR Bold"/>
              <a:sym typeface="Source Han Sans K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1" name="AutoShape 11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028700" y="3475747"/>
            <a:ext cx="5186143" cy="2534728"/>
          </a:xfrm>
          <a:custGeom>
            <a:avLst/>
            <a:gdLst/>
            <a:ahLst/>
            <a:cxnLst/>
            <a:rect r="r" b="b" t="t" l="l"/>
            <a:pathLst>
              <a:path h="2534728" w="5186143">
                <a:moveTo>
                  <a:pt x="0" y="0"/>
                </a:moveTo>
                <a:lnTo>
                  <a:pt x="5186143" y="0"/>
                </a:lnTo>
                <a:lnTo>
                  <a:pt x="5186143" y="2534727"/>
                </a:lnTo>
                <a:lnTo>
                  <a:pt x="0" y="25347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1" t="0" r="-151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105211" y="3514987"/>
            <a:ext cx="5410269" cy="2495487"/>
          </a:xfrm>
          <a:custGeom>
            <a:avLst/>
            <a:gdLst/>
            <a:ahLst/>
            <a:cxnLst/>
            <a:rect r="r" b="b" t="t" l="l"/>
            <a:pathLst>
              <a:path h="2495487" w="5410269">
                <a:moveTo>
                  <a:pt x="0" y="0"/>
                </a:moveTo>
                <a:lnTo>
                  <a:pt x="5410270" y="0"/>
                </a:lnTo>
                <a:lnTo>
                  <a:pt x="5410270" y="2495487"/>
                </a:lnTo>
                <a:lnTo>
                  <a:pt x="0" y="24954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389807" y="3514987"/>
            <a:ext cx="5540440" cy="2555528"/>
          </a:xfrm>
          <a:custGeom>
            <a:avLst/>
            <a:gdLst/>
            <a:ahLst/>
            <a:cxnLst/>
            <a:rect r="r" b="b" t="t" l="l"/>
            <a:pathLst>
              <a:path h="2555528" w="5540440">
                <a:moveTo>
                  <a:pt x="0" y="0"/>
                </a:moveTo>
                <a:lnTo>
                  <a:pt x="5540440" y="0"/>
                </a:lnTo>
                <a:lnTo>
                  <a:pt x="5540440" y="2555528"/>
                </a:lnTo>
                <a:lnTo>
                  <a:pt x="0" y="25555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  <a:endParaRPr lang="en-US" sz="2799" b="1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25.08 (2주)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(클라이언트 2, 모델링 1)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UI/사운드 처리, 앱 스토어 등록</a:t>
            </a:r>
            <a:endParaRPr lang="en-US" sz="27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5072315" cy="53311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en-US" sz="29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중력반전 러너 게임</a:t>
            </a:r>
            <a:endParaRPr lang="en-US" sz="29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4755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106400" y="7447534"/>
            <a:ext cx="4152900" cy="87731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fcfdf8"/>
                </a:solidFill>
                <a:latin typeface="한컴 윤고딕 740"/>
                <a:ea typeface="한컴 윤고딕 740"/>
                <a:cs typeface="Cabin Bold"/>
                <a:sym typeface="Cabin Bold"/>
              </a:rPr>
              <a:t>감사합니다</a:t>
            </a:r>
            <a:endParaRPr lang="en-US" sz="5000" b="1">
              <a:solidFill>
                <a:srgbClr val="fcfdf8"/>
              </a:solidFill>
              <a:latin typeface="한컴 윤고딕 740"/>
              <a:ea typeface="한컴 윤고딕 740"/>
              <a:cs typeface="Cabin Bold"/>
              <a:sym typeface="Cabin Bold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13867037" y="8500236"/>
            <a:ext cx="3392237" cy="9525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762076" y="8724875"/>
            <a:ext cx="6497196" cy="5239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4200"/>
              </a:lnSpc>
              <a:spcBef>
                <a:spcPct val="0"/>
              </a:spcBef>
              <a:defRPr/>
            </a:pPr>
            <a:r>
              <a:rPr lang="en-US" sz="3000">
                <a:solidFill>
                  <a:srgbClr val="fcfdf8"/>
                </a:solidFill>
                <a:latin typeface="한컴 윤고딕 740"/>
                <a:ea typeface="한컴 윤고딕 740"/>
                <a:cs typeface="Arimo"/>
                <a:sym typeface="Arimo"/>
              </a:rPr>
              <a:t>hwangsuji329@gmail.com</a:t>
            </a:r>
            <a:endParaRPr lang="en-US" sz="3000">
              <a:solidFill>
                <a:srgbClr val="fcfdf8"/>
              </a:solidFill>
              <a:latin typeface="한컴 윤고딕 740"/>
              <a:ea typeface="한컴 윤고딕 740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405</ep:Words>
  <ep:PresentationFormat>On-screen Show (4:3)</ep:PresentationFormat>
  <ep:Paragraphs>173</ep:Paragraphs>
  <ep:Slides>24</ep:Slides>
  <ep:Notes>0</ep:Notes>
  <ep:TotalTime>0</ep:TotalTime>
  <ep:HiddenSlides>0</ep:HiddenSlides>
  <ep:MMClips>2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hwang</cp:lastModifiedBy>
  <dcterms:modified xsi:type="dcterms:W3CDTF">2025-09-03T19:15:35.620</dcterms:modified>
  <cp:revision>4</cp:revision>
  <dc:title>서버포폴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